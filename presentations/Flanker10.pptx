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5143500" cx="9144000"/>
  <p:notesSz cx="6858000" cy="9144000"/>
  <p:embeddedFontLst>
    <p:embeddedFont>
      <p:font typeface="Robot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04C27B6-2128-4D3A-BD79-397917448CAA}">
  <a:tblStyle styleId="{D04C27B6-2128-4D3A-BD79-397917448CA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Roboto-regular.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Roboto-italic.fntdata"/><Relationship Id="rId14" Type="http://schemas.openxmlformats.org/officeDocument/2006/relationships/slide" Target="slides/slide8.xml"/><Relationship Id="rId36" Type="http://schemas.openxmlformats.org/officeDocument/2006/relationships/font" Target="fonts/Roboto-bold.fntdata"/><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font" Target="fonts/Roboto-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6b51fd792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6b51fd792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6685870255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6685870255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b11d798424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b11d798424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b23ddd6c8d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b23ddd6c8d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b23ddd6c8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b23ddd6c8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b23ddd6c8d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b23ddd6c8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6651c4c18e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6651c4c18e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Mehran Ahmadlou, Anahita Adeli, Ricardo Bajo, Hojjat Adeli,</a:t>
            </a:r>
            <a:endParaRPr/>
          </a:p>
          <a:p>
            <a:pPr indent="0" lvl="0" marL="0" rtl="0" algn="l">
              <a:spcBef>
                <a:spcPts val="0"/>
              </a:spcBef>
              <a:spcAft>
                <a:spcPts val="0"/>
              </a:spcAft>
              <a:buClr>
                <a:schemeClr val="dk1"/>
              </a:buClr>
              <a:buSzPts val="1100"/>
              <a:buFont typeface="Arial"/>
              <a:buNone/>
            </a:pPr>
            <a:r>
              <a:rPr lang="en"/>
              <a:t>Complexity of functional connectivity networks in mild cognitive impairment subjects during a working memory task,</a:t>
            </a:r>
            <a:endParaRPr/>
          </a:p>
          <a:p>
            <a:pPr indent="0" lvl="0" marL="0" rtl="0" algn="l">
              <a:spcBef>
                <a:spcPts val="0"/>
              </a:spcBef>
              <a:spcAft>
                <a:spcPts val="0"/>
              </a:spcAft>
              <a:buClr>
                <a:schemeClr val="dk1"/>
              </a:buClr>
              <a:buSzPts val="1100"/>
              <a:buFont typeface="Arial"/>
              <a:buNone/>
            </a:pPr>
            <a:r>
              <a:rPr lang="en"/>
              <a:t>Clinical Neurophysiology,</a:t>
            </a:r>
            <a:endParaRPr/>
          </a:p>
          <a:p>
            <a:pPr indent="0" lvl="0" marL="0" rtl="0" algn="l">
              <a:spcBef>
                <a:spcPts val="0"/>
              </a:spcBef>
              <a:spcAft>
                <a:spcPts val="0"/>
              </a:spcAft>
              <a:buClr>
                <a:schemeClr val="dk1"/>
              </a:buClr>
              <a:buSzPts val="1100"/>
              <a:buFont typeface="Arial"/>
              <a:buNone/>
            </a:pPr>
            <a:r>
              <a:rPr lang="en"/>
              <a:t>Volume 125, Issue 4,</a:t>
            </a:r>
            <a:endParaRPr/>
          </a:p>
          <a:p>
            <a:pPr indent="0" lvl="0" marL="0" rtl="0" algn="l">
              <a:spcBef>
                <a:spcPts val="0"/>
              </a:spcBef>
              <a:spcAft>
                <a:spcPts val="0"/>
              </a:spcAft>
              <a:buClr>
                <a:schemeClr val="dk1"/>
              </a:buClr>
              <a:buSzPts val="1100"/>
              <a:buFont typeface="Arial"/>
              <a:buNone/>
            </a:pPr>
            <a:r>
              <a:rPr lang="en"/>
              <a:t>2014,</a:t>
            </a:r>
            <a:endParaRPr/>
          </a:p>
          <a:p>
            <a:pPr indent="0" lvl="0" marL="0" rtl="0" algn="l">
              <a:spcBef>
                <a:spcPts val="0"/>
              </a:spcBef>
              <a:spcAft>
                <a:spcPts val="0"/>
              </a:spcAft>
              <a:buClr>
                <a:schemeClr val="dk1"/>
              </a:buClr>
              <a:buSzPts val="1100"/>
              <a:buFont typeface="Arial"/>
              <a:buNone/>
            </a:pPr>
            <a:r>
              <a:rPr lang="en"/>
              <a:t>Pages 694-702,</a:t>
            </a:r>
            <a:endParaRPr/>
          </a:p>
          <a:p>
            <a:pPr indent="0" lvl="0" marL="0" rtl="0" algn="l">
              <a:spcBef>
                <a:spcPts val="0"/>
              </a:spcBef>
              <a:spcAft>
                <a:spcPts val="0"/>
              </a:spcAft>
              <a:buClr>
                <a:schemeClr val="dk1"/>
              </a:buClr>
              <a:buSzPts val="1100"/>
              <a:buFont typeface="Arial"/>
              <a:buNone/>
            </a:pPr>
            <a:r>
              <a:rPr lang="en"/>
              <a:t>ISSN 1388-2457,</a:t>
            </a:r>
            <a:endParaRPr/>
          </a:p>
          <a:p>
            <a:pPr indent="0" lvl="0" marL="0" rtl="0" algn="l">
              <a:spcBef>
                <a:spcPts val="0"/>
              </a:spcBef>
              <a:spcAft>
                <a:spcPts val="0"/>
              </a:spcAft>
              <a:buClr>
                <a:schemeClr val="dk1"/>
              </a:buClr>
              <a:buSzPts val="1100"/>
              <a:buFont typeface="Arial"/>
              <a:buNone/>
            </a:pPr>
            <a:r>
              <a:rPr lang="en"/>
              <a:t>https://doi.org/10.1016/j.clinph.2013.08.033</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b23ddd6c8d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b23ddd6c8d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660c903ec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660c903ec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222222"/>
                </a:solidFill>
                <a:highlight>
                  <a:srgbClr val="FFFFFF"/>
                </a:highlight>
                <a:latin typeface="Roboto"/>
                <a:ea typeface="Roboto"/>
                <a:cs typeface="Roboto"/>
                <a:sym typeface="Roboto"/>
              </a:rPr>
              <a:t>Maffei, A., Coccaro, A., Jaspers-Fayer, F. </a:t>
            </a:r>
            <a:r>
              <a:rPr i="1" lang="en" sz="1200">
                <a:solidFill>
                  <a:srgbClr val="222222"/>
                </a:solidFill>
                <a:highlight>
                  <a:srgbClr val="FFFFFF"/>
                </a:highlight>
                <a:latin typeface="Roboto"/>
                <a:ea typeface="Roboto"/>
                <a:cs typeface="Roboto"/>
                <a:sym typeface="Roboto"/>
              </a:rPr>
              <a:t>et al.</a:t>
            </a:r>
            <a:r>
              <a:rPr lang="en" sz="1200">
                <a:solidFill>
                  <a:srgbClr val="222222"/>
                </a:solidFill>
                <a:highlight>
                  <a:srgbClr val="FFFFFF"/>
                </a:highlight>
                <a:latin typeface="Roboto"/>
                <a:ea typeface="Roboto"/>
                <a:cs typeface="Roboto"/>
                <a:sym typeface="Roboto"/>
              </a:rPr>
              <a:t> EEG alpha band functional connectivity reveals distinct cortical dynamics for overt and covert emotional face processing. </a:t>
            </a:r>
            <a:r>
              <a:rPr i="1" lang="en" sz="1200">
                <a:solidFill>
                  <a:srgbClr val="222222"/>
                </a:solidFill>
                <a:highlight>
                  <a:srgbClr val="FFFFFF"/>
                </a:highlight>
                <a:latin typeface="Roboto"/>
                <a:ea typeface="Roboto"/>
                <a:cs typeface="Roboto"/>
                <a:sym typeface="Roboto"/>
              </a:rPr>
              <a:t>Sci Rep</a:t>
            </a:r>
            <a:r>
              <a:rPr lang="en" sz="1200">
                <a:solidFill>
                  <a:srgbClr val="222222"/>
                </a:solidFill>
                <a:highlight>
                  <a:srgbClr val="FFFFFF"/>
                </a:highlight>
                <a:latin typeface="Roboto"/>
                <a:ea typeface="Roboto"/>
                <a:cs typeface="Roboto"/>
                <a:sym typeface="Roboto"/>
              </a:rPr>
              <a:t> 13, 9951 (2023). https://doi.org/10.1038/s41598-023-36860-4</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662ad3d82f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662ad3d82f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212121"/>
                </a:solidFill>
                <a:highlight>
                  <a:srgbClr val="FFFFFF"/>
                </a:highlight>
                <a:latin typeface="Roboto"/>
                <a:ea typeface="Roboto"/>
                <a:cs typeface="Roboto"/>
                <a:sym typeface="Roboto"/>
              </a:rPr>
              <a:t>Deiber MP, Meziane HB, Hasler R, Rodriguez C, Toma S, Ackermann M, Herrmann F, Giannakopoulos P. Attention and Working Memory-Related EEG Markers of Subtle Cognitive Deterioration in Healthy Elderly Individuals. J Alzheimers Dis. 2015;47(2):335-49. doi: 10.3233/JAD-150111. PMID: 26401557.</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b23ddd6c8d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2b23ddd6c8d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6651c4c18e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26651c4c18e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212121"/>
                </a:solidFill>
                <a:highlight>
                  <a:srgbClr val="FFFFFF"/>
                </a:highlight>
                <a:latin typeface="Roboto"/>
                <a:ea typeface="Roboto"/>
                <a:cs typeface="Roboto"/>
                <a:sym typeface="Roboto"/>
              </a:rPr>
              <a:t>Deiber MP, Meziane HB, Hasler R, Rodriguez C, Toma S, Ackermann M, Herrmann F, Giannakopoulos P. Attention and Working Memory-Related EEG Markers of Subtle Cognitive Deterioration in Healthy Elderly Individuals. J Alzheimers Dis. 2015;47(2):335-49. doi: 10.3233/JAD-150111. PMID: 26401557.</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668587025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668587025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6685870255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6685870255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b1d2e279e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2b1d2e279e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212121"/>
                </a:solidFill>
                <a:highlight>
                  <a:srgbClr val="FFFFFF"/>
                </a:highlight>
                <a:latin typeface="Roboto"/>
                <a:ea typeface="Roboto"/>
                <a:cs typeface="Roboto"/>
                <a:sym typeface="Roboto"/>
              </a:rPr>
              <a:t>Deiber MP, Meziane HB, Hasler R, Rodriguez C, Toma S, Ackermann M, Herrmann F, Giannakopoulos P. Attention and Working Memory-Related EEG Markers of Subtle Cognitive Deterioration in Healthy Elderly Individuals. J Alzheimers Dis. 2015;47(2):335-49. doi: 10.3233/JAD-150111. PMID: 26401557.</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662ad3d82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2662ad3d82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212121"/>
                </a:solidFill>
                <a:highlight>
                  <a:srgbClr val="FFFFFF"/>
                </a:highlight>
                <a:latin typeface="Roboto"/>
                <a:ea typeface="Roboto"/>
                <a:cs typeface="Roboto"/>
                <a:sym typeface="Roboto"/>
              </a:rPr>
              <a:t>Deiber MP, Meziane HB, Hasler R, Rodriguez C, Toma S, Ackermann M, Herrmann F, Giannakopoulos P. Attention and Working Memory-Related EEG Markers of Subtle Cognitive Deterioration in Healthy Elderly Individuals. J Alzheimers Dis. 2015;47(2):335-49. doi: 10.3233/JAD-150111. PMID: 26401557.</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2b23ddd6c8d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2b23ddd6c8d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2b23ddd6c8d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2b23ddd6c8d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b11d79842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2b11d79842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266465574d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266465574d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266dc937b7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266dc937b7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266dc937b7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266dc937b7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266465574d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266465574d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2b11d798424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2b11d798424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2b0beb90cc2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2b0beb90cc2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b0beb90cc2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2b0beb90cc2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2b0beb90cc2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2b0beb90cc2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2b23ddd6c8d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2b23ddd6c8d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CTEC" type="title">
  <p:cSld name="TITLE">
    <p:spTree>
      <p:nvGrpSpPr>
        <p:cNvPr id="9" name="Shape 9"/>
        <p:cNvGrpSpPr/>
        <p:nvPr/>
      </p:nvGrpSpPr>
      <p:grpSpPr>
        <a:xfrm>
          <a:off x="0" y="0"/>
          <a:ext cx="0" cy="0"/>
          <a:chOff x="0" y="0"/>
          <a:chExt cx="0" cy="0"/>
        </a:xfrm>
      </p:grpSpPr>
      <p:sp>
        <p:nvSpPr>
          <p:cNvPr id="10" name="Google Shape;10;p2"/>
          <p:cNvSpPr/>
          <p:nvPr/>
        </p:nvSpPr>
        <p:spPr>
          <a:xfrm>
            <a:off x="0" y="0"/>
            <a:ext cx="9144000" cy="865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idx="12" type="sldNum"/>
          </p:nvPr>
        </p:nvSpPr>
        <p:spPr>
          <a:xfrm>
            <a:off x="84313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r>
              <a:rPr lang="en"/>
              <a:t>2</a:t>
            </a:r>
            <a:endParaRPr/>
          </a:p>
        </p:txBody>
      </p:sp>
      <p:sp>
        <p:nvSpPr>
          <p:cNvPr id="12" name="Google Shape;12;p2"/>
          <p:cNvSpPr txBox="1"/>
          <p:nvPr>
            <p:ph idx="1" type="body"/>
          </p:nvPr>
        </p:nvSpPr>
        <p:spPr>
          <a:xfrm>
            <a:off x="399300" y="1030725"/>
            <a:ext cx="83454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b="1"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3" name="Google Shape;13;p2"/>
          <p:cNvSpPr txBox="1"/>
          <p:nvPr>
            <p:ph type="title"/>
          </p:nvPr>
        </p:nvSpPr>
        <p:spPr>
          <a:xfrm>
            <a:off x="455475" y="256688"/>
            <a:ext cx="77304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rgbClr val="85200C"/>
              </a:buClr>
              <a:buSzPts val="2200"/>
              <a:buNone/>
              <a:defRPr b="1" sz="2200">
                <a:solidFill>
                  <a:srgbClr val="85200C"/>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455475" y="146238"/>
            <a:ext cx="77304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99300" y="1030725"/>
            <a:ext cx="8345400" cy="34164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SzPts val="1500"/>
              <a:buChar char="●"/>
              <a:defRPr/>
            </a:lvl1pPr>
            <a:lvl2pPr indent="-311150" lvl="1" marL="914400">
              <a:spcBef>
                <a:spcPts val="0"/>
              </a:spcBef>
              <a:spcAft>
                <a:spcPts val="0"/>
              </a:spcAft>
              <a:buSzPts val="1300"/>
              <a:buChar char="○"/>
              <a:defRPr/>
            </a:lvl2pPr>
            <a:lvl3pPr indent="-311150" lvl="2" marL="1371600">
              <a:spcBef>
                <a:spcPts val="0"/>
              </a:spcBef>
              <a:spcAft>
                <a:spcPts val="0"/>
              </a:spcAft>
              <a:buSzPts val="1300"/>
              <a:buChar char="■"/>
              <a:defRPr/>
            </a:lvl3pPr>
            <a:lvl4pPr indent="-311150" lvl="3" marL="1828800">
              <a:spcBef>
                <a:spcPts val="0"/>
              </a:spcBef>
              <a:spcAft>
                <a:spcPts val="0"/>
              </a:spcAft>
              <a:buSzPts val="1300"/>
              <a:buChar char="●"/>
              <a:defRPr/>
            </a:lvl4pPr>
            <a:lvl5pPr indent="-311150" lvl="4" marL="2286000">
              <a:spcBef>
                <a:spcPts val="0"/>
              </a:spcBef>
              <a:spcAft>
                <a:spcPts val="0"/>
              </a:spcAft>
              <a:buSzPts val="1300"/>
              <a:buChar char="○"/>
              <a:defRPr/>
            </a:lvl5pPr>
            <a:lvl6pPr indent="-311150" lvl="5" marL="2743200">
              <a:spcBef>
                <a:spcPts val="0"/>
              </a:spcBef>
              <a:spcAft>
                <a:spcPts val="0"/>
              </a:spcAft>
              <a:buSzPts val="1300"/>
              <a:buChar char="■"/>
              <a:defRPr/>
            </a:lvl6pPr>
            <a:lvl7pPr indent="-311150" lvl="6" marL="3200400">
              <a:spcBef>
                <a:spcPts val="0"/>
              </a:spcBef>
              <a:spcAft>
                <a:spcPts val="0"/>
              </a:spcAft>
              <a:buSzPts val="1300"/>
              <a:buChar char="●"/>
              <a:defRPr/>
            </a:lvl7pPr>
            <a:lvl8pPr indent="-311150" lvl="7" marL="3657600">
              <a:spcBef>
                <a:spcPts val="0"/>
              </a:spcBef>
              <a:spcAft>
                <a:spcPts val="0"/>
              </a:spcAft>
              <a:buSzPts val="1300"/>
              <a:buChar char="○"/>
              <a:defRPr/>
            </a:lvl8pPr>
            <a:lvl9pPr indent="-311150" lvl="8" marL="4114800">
              <a:spcBef>
                <a:spcPts val="0"/>
              </a:spcBef>
              <a:spcAft>
                <a:spcPts val="0"/>
              </a:spcAft>
              <a:buSzPts val="13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455475" y="146238"/>
            <a:ext cx="77304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455475" y="146238"/>
            <a:ext cx="77304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389600"/>
            <a:ext cx="68247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23850" lvl="0" marL="457200">
              <a:spcBef>
                <a:spcPts val="0"/>
              </a:spcBef>
              <a:spcAft>
                <a:spcPts val="0"/>
              </a:spcAft>
              <a:buSzPts val="1500"/>
              <a:buChar char="●"/>
              <a:defRPr/>
            </a:lvl1pPr>
            <a:lvl2pPr indent="-311150" lvl="1" marL="914400">
              <a:spcBef>
                <a:spcPts val="0"/>
              </a:spcBef>
              <a:spcAft>
                <a:spcPts val="0"/>
              </a:spcAft>
              <a:buSzPts val="1300"/>
              <a:buChar char="○"/>
              <a:defRPr/>
            </a:lvl2pPr>
            <a:lvl3pPr indent="-311150" lvl="2" marL="1371600">
              <a:spcBef>
                <a:spcPts val="0"/>
              </a:spcBef>
              <a:spcAft>
                <a:spcPts val="0"/>
              </a:spcAft>
              <a:buSzPts val="1300"/>
              <a:buChar char="■"/>
              <a:defRPr/>
            </a:lvl3pPr>
            <a:lvl4pPr indent="-311150" lvl="3" marL="1828800">
              <a:spcBef>
                <a:spcPts val="0"/>
              </a:spcBef>
              <a:spcAft>
                <a:spcPts val="0"/>
              </a:spcAft>
              <a:buSzPts val="1300"/>
              <a:buChar char="●"/>
              <a:defRPr/>
            </a:lvl4pPr>
            <a:lvl5pPr indent="-311150" lvl="4" marL="2286000">
              <a:spcBef>
                <a:spcPts val="0"/>
              </a:spcBef>
              <a:spcAft>
                <a:spcPts val="0"/>
              </a:spcAft>
              <a:buSzPts val="1300"/>
              <a:buChar char="○"/>
              <a:defRPr/>
            </a:lvl5pPr>
            <a:lvl6pPr indent="-311150" lvl="5" marL="2743200">
              <a:spcBef>
                <a:spcPts val="0"/>
              </a:spcBef>
              <a:spcAft>
                <a:spcPts val="0"/>
              </a:spcAft>
              <a:buSzPts val="1300"/>
              <a:buChar char="■"/>
              <a:defRPr/>
            </a:lvl6pPr>
            <a:lvl7pPr indent="-311150" lvl="6" marL="3200400">
              <a:spcBef>
                <a:spcPts val="0"/>
              </a:spcBef>
              <a:spcAft>
                <a:spcPts val="0"/>
              </a:spcAft>
              <a:buSzPts val="1300"/>
              <a:buChar char="●"/>
              <a:defRPr/>
            </a:lvl7pPr>
            <a:lvl8pPr indent="-311150" lvl="7" marL="3657600">
              <a:spcBef>
                <a:spcPts val="0"/>
              </a:spcBef>
              <a:spcAft>
                <a:spcPts val="0"/>
              </a:spcAft>
              <a:buSzPts val="1300"/>
              <a:buChar char="○"/>
              <a:defRPr/>
            </a:lvl8pPr>
            <a:lvl9pPr indent="-311150" lvl="8" marL="4114800">
              <a:spcBef>
                <a:spcPts val="0"/>
              </a:spcBef>
              <a:spcAft>
                <a:spcPts val="0"/>
              </a:spcAft>
              <a:buSzPts val="1300"/>
              <a:buChar char="■"/>
              <a:defRPr/>
            </a:lvl9pPr>
          </a:lstStyle>
          <a:p/>
        </p:txBody>
      </p:sp>
      <p:sp>
        <p:nvSpPr>
          <p:cNvPr id="41" name="Google Shape;4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500"/>
              <a:buNone/>
              <a:defRPr/>
            </a:lvl1pPr>
          </a:lstStyle>
          <a:p/>
        </p:txBody>
      </p:sp>
      <p:sp>
        <p:nvSpPr>
          <p:cNvPr id="44" name="Google Shape;4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23850" lvl="0" marL="457200" algn="ctr">
              <a:spcBef>
                <a:spcPts val="0"/>
              </a:spcBef>
              <a:spcAft>
                <a:spcPts val="0"/>
              </a:spcAft>
              <a:buSzPts val="1500"/>
              <a:buChar char="●"/>
              <a:defRPr/>
            </a:lvl1pPr>
            <a:lvl2pPr indent="-311150" lvl="1" marL="914400" algn="ctr">
              <a:spcBef>
                <a:spcPts val="0"/>
              </a:spcBef>
              <a:spcAft>
                <a:spcPts val="0"/>
              </a:spcAft>
              <a:buSzPts val="1300"/>
              <a:buChar char="○"/>
              <a:defRPr/>
            </a:lvl2pPr>
            <a:lvl3pPr indent="-311150" lvl="2" marL="1371600" algn="ctr">
              <a:spcBef>
                <a:spcPts val="0"/>
              </a:spcBef>
              <a:spcAft>
                <a:spcPts val="0"/>
              </a:spcAft>
              <a:buSzPts val="1300"/>
              <a:buChar char="■"/>
              <a:defRPr/>
            </a:lvl3pPr>
            <a:lvl4pPr indent="-311150" lvl="3" marL="1828800" algn="ctr">
              <a:spcBef>
                <a:spcPts val="0"/>
              </a:spcBef>
              <a:spcAft>
                <a:spcPts val="0"/>
              </a:spcAft>
              <a:buSzPts val="1300"/>
              <a:buChar char="●"/>
              <a:defRPr/>
            </a:lvl4pPr>
            <a:lvl5pPr indent="-311150" lvl="4" marL="2286000" algn="ctr">
              <a:spcBef>
                <a:spcPts val="0"/>
              </a:spcBef>
              <a:spcAft>
                <a:spcPts val="0"/>
              </a:spcAft>
              <a:buSzPts val="1300"/>
              <a:buChar char="○"/>
              <a:defRPr/>
            </a:lvl5pPr>
            <a:lvl6pPr indent="-311150" lvl="5" marL="2743200" algn="ctr">
              <a:spcBef>
                <a:spcPts val="0"/>
              </a:spcBef>
              <a:spcAft>
                <a:spcPts val="0"/>
              </a:spcAft>
              <a:buSzPts val="1300"/>
              <a:buChar char="■"/>
              <a:defRPr/>
            </a:lvl6pPr>
            <a:lvl7pPr indent="-311150" lvl="6" marL="3200400" algn="ctr">
              <a:spcBef>
                <a:spcPts val="0"/>
              </a:spcBef>
              <a:spcAft>
                <a:spcPts val="0"/>
              </a:spcAft>
              <a:buSzPts val="1300"/>
              <a:buChar char="●"/>
              <a:defRPr/>
            </a:lvl7pPr>
            <a:lvl8pPr indent="-311150" lvl="7" marL="3657600" algn="ctr">
              <a:spcBef>
                <a:spcPts val="0"/>
              </a:spcBef>
              <a:spcAft>
                <a:spcPts val="0"/>
              </a:spcAft>
              <a:buSzPts val="1300"/>
              <a:buChar char="○"/>
              <a:defRPr/>
            </a:lvl8pPr>
            <a:lvl9pPr indent="-311150" lvl="8" marL="4114800" algn="ctr">
              <a:spcBef>
                <a:spcPts val="0"/>
              </a:spcBef>
              <a:spcAft>
                <a:spcPts val="0"/>
              </a:spcAft>
              <a:buSzPts val="1300"/>
              <a:buChar char="■"/>
              <a:defRPr/>
            </a:lvl9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
  <p:cSld name="TITLE_1">
    <p:spTree>
      <p:nvGrpSpPr>
        <p:cNvPr id="51" name="Shape 51"/>
        <p:cNvGrpSpPr/>
        <p:nvPr/>
      </p:nvGrpSpPr>
      <p:grpSpPr>
        <a:xfrm>
          <a:off x="0" y="0"/>
          <a:ext cx="0" cy="0"/>
          <a:chOff x="0" y="0"/>
          <a:chExt cx="0" cy="0"/>
        </a:xfrm>
      </p:grpSpPr>
      <p:sp>
        <p:nvSpPr>
          <p:cNvPr id="52" name="Google Shape;52;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3" name="Google Shape;53;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4" name="Google Shape;54;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2">
  <p:cSld name="TITLE_2">
    <p:spTree>
      <p:nvGrpSpPr>
        <p:cNvPr id="55" name="Shape 55"/>
        <p:cNvGrpSpPr/>
        <p:nvPr/>
      </p:nvGrpSpPr>
      <p:grpSpPr>
        <a:xfrm>
          <a:off x="0" y="0"/>
          <a:ext cx="0" cy="0"/>
          <a:chOff x="0" y="0"/>
          <a:chExt cx="0" cy="0"/>
        </a:xfrm>
      </p:grpSpPr>
      <p:sp>
        <p:nvSpPr>
          <p:cNvPr id="56" name="Google Shape;56;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7" name="Google Shape;57;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8" name="Google Shape;58;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59" name="Shape 59"/>
        <p:cNvGrpSpPr/>
        <p:nvPr/>
      </p:nvGrpSpPr>
      <p:grpSpPr>
        <a:xfrm>
          <a:off x="0" y="0"/>
          <a:ext cx="0" cy="0"/>
          <a:chOff x="0" y="0"/>
          <a:chExt cx="0" cy="0"/>
        </a:xfrm>
      </p:grpSpPr>
      <p:sp>
        <p:nvSpPr>
          <p:cNvPr id="60" name="Google Shape;60;p1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61" name="Google Shape;61;p1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2" name="Google Shape;62;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4">
  <p:cSld name="TITLE_4">
    <p:spTree>
      <p:nvGrpSpPr>
        <p:cNvPr id="63" name="Shape 63"/>
        <p:cNvGrpSpPr/>
        <p:nvPr/>
      </p:nvGrpSpPr>
      <p:grpSpPr>
        <a:xfrm>
          <a:off x="0" y="0"/>
          <a:ext cx="0" cy="0"/>
          <a:chOff x="0" y="0"/>
          <a:chExt cx="0" cy="0"/>
        </a:xfrm>
      </p:grpSpPr>
      <p:sp>
        <p:nvSpPr>
          <p:cNvPr id="64" name="Google Shape;64;p1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65" name="Google Shape;65;p1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6" name="Google Shape;66;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5">
  <p:cSld name="TITLE_5">
    <p:spTree>
      <p:nvGrpSpPr>
        <p:cNvPr id="67" name="Shape 67"/>
        <p:cNvGrpSpPr/>
        <p:nvPr/>
      </p:nvGrpSpPr>
      <p:grpSpPr>
        <a:xfrm>
          <a:off x="0" y="0"/>
          <a:ext cx="0" cy="0"/>
          <a:chOff x="0" y="0"/>
          <a:chExt cx="0" cy="0"/>
        </a:xfrm>
      </p:grpSpPr>
      <p:sp>
        <p:nvSpPr>
          <p:cNvPr id="68" name="Google Shape;68;p1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69" name="Google Shape;69;p1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0" name="Google Shape;70;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6">
  <p:cSld name="TITLE_6">
    <p:spTree>
      <p:nvGrpSpPr>
        <p:cNvPr id="71" name="Shape 71"/>
        <p:cNvGrpSpPr/>
        <p:nvPr/>
      </p:nvGrpSpPr>
      <p:grpSpPr>
        <a:xfrm>
          <a:off x="0" y="0"/>
          <a:ext cx="0" cy="0"/>
          <a:chOff x="0" y="0"/>
          <a:chExt cx="0" cy="0"/>
        </a:xfrm>
      </p:grpSpPr>
      <p:sp>
        <p:nvSpPr>
          <p:cNvPr id="72" name="Google Shape;72;p1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3" name="Google Shape;73;p1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4" name="Google Shape;74;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7">
  <p:cSld name="TITLE_7">
    <p:spTree>
      <p:nvGrpSpPr>
        <p:cNvPr id="75" name="Shape 75"/>
        <p:cNvGrpSpPr/>
        <p:nvPr/>
      </p:nvGrpSpPr>
      <p:grpSpPr>
        <a:xfrm>
          <a:off x="0" y="0"/>
          <a:ext cx="0" cy="0"/>
          <a:chOff x="0" y="0"/>
          <a:chExt cx="0" cy="0"/>
        </a:xfrm>
      </p:grpSpPr>
      <p:sp>
        <p:nvSpPr>
          <p:cNvPr id="76" name="Google Shape;76;p1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7" name="Google Shape;77;p1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8" name="Google Shape;78;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1.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5475" y="146238"/>
            <a:ext cx="77304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85200C"/>
              </a:buClr>
              <a:buSzPts val="2200"/>
              <a:buNone/>
              <a:defRPr sz="2200">
                <a:solidFill>
                  <a:srgbClr val="85200C"/>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99300" y="1030725"/>
            <a:ext cx="8345400" cy="3416400"/>
          </a:xfrm>
          <a:prstGeom prst="rect">
            <a:avLst/>
          </a:prstGeom>
          <a:noFill/>
          <a:ln>
            <a:noFill/>
          </a:ln>
        </p:spPr>
        <p:txBody>
          <a:bodyPr anchorCtr="0" anchor="t" bIns="91425" lIns="91425" spcFirstLastPara="1" rIns="91425" wrap="square" tIns="91425">
            <a:normAutofit/>
          </a:bodyPr>
          <a:lstStyle>
            <a:lvl1pPr indent="-323850" lvl="0" marL="457200">
              <a:lnSpc>
                <a:spcPct val="115000"/>
              </a:lnSpc>
              <a:spcBef>
                <a:spcPts val="0"/>
              </a:spcBef>
              <a:spcAft>
                <a:spcPts val="0"/>
              </a:spcAft>
              <a:buClr>
                <a:srgbClr val="85200C"/>
              </a:buClr>
              <a:buSzPts val="1500"/>
              <a:buChar char="●"/>
              <a:defRPr sz="1500">
                <a:solidFill>
                  <a:srgbClr val="85200C"/>
                </a:solidFill>
              </a:defRPr>
            </a:lvl1pPr>
            <a:lvl2pPr indent="-311150" lvl="1" marL="914400">
              <a:lnSpc>
                <a:spcPct val="115000"/>
              </a:lnSpc>
              <a:spcBef>
                <a:spcPts val="0"/>
              </a:spcBef>
              <a:spcAft>
                <a:spcPts val="0"/>
              </a:spcAft>
              <a:buClr>
                <a:schemeClr val="dk2"/>
              </a:buClr>
              <a:buSzPts val="1300"/>
              <a:buChar char="○"/>
              <a:defRPr sz="1300">
                <a:solidFill>
                  <a:schemeClr val="dk2"/>
                </a:solidFill>
              </a:defRPr>
            </a:lvl2pPr>
            <a:lvl3pPr indent="-311150" lvl="2" marL="1371600">
              <a:lnSpc>
                <a:spcPct val="115000"/>
              </a:lnSpc>
              <a:spcBef>
                <a:spcPts val="0"/>
              </a:spcBef>
              <a:spcAft>
                <a:spcPts val="0"/>
              </a:spcAft>
              <a:buClr>
                <a:schemeClr val="dk2"/>
              </a:buClr>
              <a:buSzPts val="1300"/>
              <a:buChar char="■"/>
              <a:defRPr sz="1300">
                <a:solidFill>
                  <a:schemeClr val="dk2"/>
                </a:solidFill>
              </a:defRPr>
            </a:lvl3pPr>
            <a:lvl4pPr indent="-311150" lvl="3" marL="1828800">
              <a:lnSpc>
                <a:spcPct val="115000"/>
              </a:lnSpc>
              <a:spcBef>
                <a:spcPts val="0"/>
              </a:spcBef>
              <a:spcAft>
                <a:spcPts val="0"/>
              </a:spcAft>
              <a:buClr>
                <a:schemeClr val="dk2"/>
              </a:buClr>
              <a:buSzPts val="1300"/>
              <a:buChar char="●"/>
              <a:defRPr sz="1300">
                <a:solidFill>
                  <a:schemeClr val="dk2"/>
                </a:solidFill>
              </a:defRPr>
            </a:lvl4pPr>
            <a:lvl5pPr indent="-311150" lvl="4" marL="2286000">
              <a:lnSpc>
                <a:spcPct val="115000"/>
              </a:lnSpc>
              <a:spcBef>
                <a:spcPts val="0"/>
              </a:spcBef>
              <a:spcAft>
                <a:spcPts val="0"/>
              </a:spcAft>
              <a:buClr>
                <a:schemeClr val="dk2"/>
              </a:buClr>
              <a:buSzPts val="1300"/>
              <a:buChar char="○"/>
              <a:defRPr sz="1300">
                <a:solidFill>
                  <a:schemeClr val="dk2"/>
                </a:solidFill>
              </a:defRPr>
            </a:lvl5pPr>
            <a:lvl6pPr indent="-311150" lvl="5" marL="2743200">
              <a:lnSpc>
                <a:spcPct val="115000"/>
              </a:lnSpc>
              <a:spcBef>
                <a:spcPts val="0"/>
              </a:spcBef>
              <a:spcAft>
                <a:spcPts val="0"/>
              </a:spcAft>
              <a:buClr>
                <a:schemeClr val="dk2"/>
              </a:buClr>
              <a:buSzPts val="1300"/>
              <a:buChar char="■"/>
              <a:defRPr sz="1300">
                <a:solidFill>
                  <a:schemeClr val="dk2"/>
                </a:solidFill>
              </a:defRPr>
            </a:lvl6pPr>
            <a:lvl7pPr indent="-311150" lvl="6" marL="3200400">
              <a:lnSpc>
                <a:spcPct val="115000"/>
              </a:lnSpc>
              <a:spcBef>
                <a:spcPts val="0"/>
              </a:spcBef>
              <a:spcAft>
                <a:spcPts val="0"/>
              </a:spcAft>
              <a:buClr>
                <a:schemeClr val="dk2"/>
              </a:buClr>
              <a:buSzPts val="1300"/>
              <a:buChar char="●"/>
              <a:defRPr sz="1300">
                <a:solidFill>
                  <a:schemeClr val="dk2"/>
                </a:solidFill>
              </a:defRPr>
            </a:lvl7pPr>
            <a:lvl8pPr indent="-311150" lvl="7" marL="3657600">
              <a:lnSpc>
                <a:spcPct val="115000"/>
              </a:lnSpc>
              <a:spcBef>
                <a:spcPts val="0"/>
              </a:spcBef>
              <a:spcAft>
                <a:spcPts val="0"/>
              </a:spcAft>
              <a:buClr>
                <a:schemeClr val="dk2"/>
              </a:buClr>
              <a:buSzPts val="1300"/>
              <a:buChar char="○"/>
              <a:defRPr sz="1300">
                <a:solidFill>
                  <a:schemeClr val="dk2"/>
                </a:solidFill>
              </a:defRPr>
            </a:lvl8pPr>
            <a:lvl9pPr indent="-311150" lvl="8" marL="4114800">
              <a:lnSpc>
                <a:spcPct val="115000"/>
              </a:lnSpc>
              <a:spcBef>
                <a:spcPts val="0"/>
              </a:spcBef>
              <a:spcAft>
                <a:spcPts val="0"/>
              </a:spcAft>
              <a:buClr>
                <a:schemeClr val="dk2"/>
              </a:buClr>
              <a:buSzPts val="1300"/>
              <a:buChar char="■"/>
              <a:defRPr sz="1300">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7.png"/><Relationship Id="rId4" Type="http://schemas.openxmlformats.org/officeDocument/2006/relationships/image" Target="../media/image14.png"/><Relationship Id="rId5"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20.png"/><Relationship Id="rId5"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15.png"/><Relationship Id="rId7"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25.png"/><Relationship Id="rId5"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8.png"/><Relationship Id="rId6"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29.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38.png"/><Relationship Id="rId4" Type="http://schemas.openxmlformats.org/officeDocument/2006/relationships/image" Target="../media/image34.png"/><Relationship Id="rId5"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image" Target="../media/image28.png"/><Relationship Id="rId5"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20.png"/><Relationship Id="rId4" Type="http://schemas.openxmlformats.org/officeDocument/2006/relationships/image" Target="../media/image32.png"/><Relationship Id="rId5" Type="http://schemas.openxmlformats.org/officeDocument/2006/relationships/image" Target="../media/image45.png"/><Relationship Id="rId6" Type="http://schemas.openxmlformats.org/officeDocument/2006/relationships/image" Target="../media/image35.png"/><Relationship Id="rId7"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13.png"/><Relationship Id="rId4" Type="http://schemas.openxmlformats.org/officeDocument/2006/relationships/image" Target="../media/image25.png"/><Relationship Id="rId5"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39.png"/><Relationship Id="rId4" Type="http://schemas.openxmlformats.org/officeDocument/2006/relationships/image" Target="../media/image37.png"/><Relationship Id="rId5" Type="http://schemas.openxmlformats.org/officeDocument/2006/relationships/image" Target="../media/image42.png"/><Relationship Id="rId6"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44.png"/><Relationship Id="rId4" Type="http://schemas.openxmlformats.org/officeDocument/2006/relationships/image" Target="../media/image20.png"/><Relationship Id="rId5" Type="http://schemas.openxmlformats.org/officeDocument/2006/relationships/image" Target="../media/image41.png"/><Relationship Id="rId6" Type="http://schemas.openxmlformats.org/officeDocument/2006/relationships/image" Target="../media/image3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48.png"/><Relationship Id="rId4" Type="http://schemas.openxmlformats.org/officeDocument/2006/relationships/image" Target="../media/image20.png"/><Relationship Id="rId5" Type="http://schemas.openxmlformats.org/officeDocument/2006/relationships/image" Target="../media/image3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49.png"/><Relationship Id="rId4" Type="http://schemas.openxmlformats.org/officeDocument/2006/relationships/image" Target="../media/image40.png"/><Relationship Id="rId5" Type="http://schemas.openxmlformats.org/officeDocument/2006/relationships/image" Target="../media/image47.png"/><Relationship Id="rId6" Type="http://schemas.openxmlformats.org/officeDocument/2006/relationships/image" Target="../media/image51.png"/><Relationship Id="rId7"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49.png"/><Relationship Id="rId4" Type="http://schemas.openxmlformats.org/officeDocument/2006/relationships/image" Target="../media/image33.png"/><Relationship Id="rId5" Type="http://schemas.openxmlformats.org/officeDocument/2006/relationships/image" Target="../media/image4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50.png"/><Relationship Id="rId4" Type="http://schemas.openxmlformats.org/officeDocument/2006/relationships/image" Target="../media/image49.png"/><Relationship Id="rId5" Type="http://schemas.openxmlformats.org/officeDocument/2006/relationships/image" Target="../media/image52.png"/><Relationship Id="rId6" Type="http://schemas.openxmlformats.org/officeDocument/2006/relationships/image" Target="../media/image4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4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id="83" name="Google Shape;83;p20"/>
          <p:cNvPicPr preferRelativeResize="0"/>
          <p:nvPr/>
        </p:nvPicPr>
        <p:blipFill rotWithShape="1">
          <a:blip r:embed="rId3">
            <a:alphaModFix/>
          </a:blip>
          <a:srcRect b="0" l="27364" r="22177" t="49492"/>
          <a:stretch/>
        </p:blipFill>
        <p:spPr>
          <a:xfrm>
            <a:off x="1087025" y="127925"/>
            <a:ext cx="1831150" cy="2443827"/>
          </a:xfrm>
          <a:prstGeom prst="rect">
            <a:avLst/>
          </a:prstGeom>
          <a:noFill/>
          <a:ln>
            <a:noFill/>
          </a:ln>
        </p:spPr>
      </p:pic>
      <p:pic>
        <p:nvPicPr>
          <p:cNvPr id="84" name="Google Shape;84;p20"/>
          <p:cNvPicPr preferRelativeResize="0"/>
          <p:nvPr/>
        </p:nvPicPr>
        <p:blipFill>
          <a:blip r:embed="rId4">
            <a:alphaModFix/>
          </a:blip>
          <a:stretch>
            <a:fillRect/>
          </a:stretch>
        </p:blipFill>
        <p:spPr>
          <a:xfrm>
            <a:off x="4096925" y="211475"/>
            <a:ext cx="3629025" cy="4838700"/>
          </a:xfrm>
          <a:prstGeom prst="rect">
            <a:avLst/>
          </a:prstGeom>
          <a:noFill/>
          <a:ln>
            <a:noFill/>
          </a:ln>
        </p:spPr>
      </p:pic>
      <p:pic>
        <p:nvPicPr>
          <p:cNvPr id="85" name="Google Shape;85;p20"/>
          <p:cNvPicPr preferRelativeResize="0"/>
          <p:nvPr/>
        </p:nvPicPr>
        <p:blipFill>
          <a:blip r:embed="rId5">
            <a:alphaModFix/>
          </a:blip>
          <a:stretch>
            <a:fillRect/>
          </a:stretch>
        </p:blipFill>
        <p:spPr>
          <a:xfrm>
            <a:off x="1087025" y="2768850"/>
            <a:ext cx="1831148" cy="220083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p21"/>
          <p:cNvPicPr preferRelativeResize="0"/>
          <p:nvPr/>
        </p:nvPicPr>
        <p:blipFill>
          <a:blip r:embed="rId3">
            <a:alphaModFix/>
          </a:blip>
          <a:stretch>
            <a:fillRect/>
          </a:stretch>
        </p:blipFill>
        <p:spPr>
          <a:xfrm>
            <a:off x="194725" y="109540"/>
            <a:ext cx="8754550" cy="4924411"/>
          </a:xfrm>
          <a:prstGeom prst="rect">
            <a:avLst/>
          </a:prstGeom>
          <a:noFill/>
          <a:ln>
            <a:noFill/>
          </a:ln>
        </p:spPr>
      </p:pic>
      <p:sp>
        <p:nvSpPr>
          <p:cNvPr id="91" name="Google Shape;91;p21"/>
          <p:cNvSpPr txBox="1"/>
          <p:nvPr>
            <p:ph idx="4294967295" type="title"/>
          </p:nvPr>
        </p:nvSpPr>
        <p:spPr>
          <a:xfrm>
            <a:off x="590175" y="156220"/>
            <a:ext cx="7730400" cy="443400"/>
          </a:xfrm>
          <a:prstGeom prst="rect">
            <a:avLst/>
          </a:prstGeom>
          <a:solidFill>
            <a:schemeClr val="lt1"/>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1900"/>
              <a:t>RECAP</a:t>
            </a:r>
            <a:endParaRPr b="1" sz="19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2"/>
          <p:cNvSpPr txBox="1"/>
          <p:nvPr>
            <p:ph idx="1" type="body"/>
          </p:nvPr>
        </p:nvSpPr>
        <p:spPr>
          <a:xfrm>
            <a:off x="399300" y="1030725"/>
            <a:ext cx="83454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a:t>Discussion: Do we have to shift channels position?</a:t>
            </a:r>
            <a:endParaRPr/>
          </a:p>
          <a:p>
            <a:pPr indent="-317500" lvl="0" marL="457200" rtl="0" algn="l">
              <a:spcBef>
                <a:spcPts val="0"/>
              </a:spcBef>
              <a:spcAft>
                <a:spcPts val="0"/>
              </a:spcAft>
              <a:buSzPts val="1400"/>
              <a:buChar char="●"/>
            </a:pPr>
            <a:r>
              <a:rPr lang="en"/>
              <a:t>Brief Summary</a:t>
            </a:r>
            <a:endParaRPr/>
          </a:p>
          <a:p>
            <a:pPr indent="-317500" lvl="0" marL="457200" rtl="0" algn="l">
              <a:spcBef>
                <a:spcPts val="0"/>
              </a:spcBef>
              <a:spcAft>
                <a:spcPts val="0"/>
              </a:spcAft>
              <a:buSzPts val="1400"/>
              <a:buChar char="●"/>
            </a:pPr>
            <a:r>
              <a:rPr lang="en"/>
              <a:t>(Optional) Literature Reviews</a:t>
            </a:r>
            <a:endParaRPr/>
          </a:p>
          <a:p>
            <a:pPr indent="-317500" lvl="0" marL="457200" rtl="0" algn="l">
              <a:spcBef>
                <a:spcPts val="0"/>
              </a:spcBef>
              <a:spcAft>
                <a:spcPts val="0"/>
              </a:spcAft>
              <a:buSzPts val="1400"/>
              <a:buChar char="●"/>
            </a:pPr>
            <a:r>
              <a:rPr lang="en"/>
              <a:t>What’s next?</a:t>
            </a:r>
            <a:endParaRPr/>
          </a:p>
        </p:txBody>
      </p:sp>
      <p:sp>
        <p:nvSpPr>
          <p:cNvPr id="97" name="Google Shape;97;p22"/>
          <p:cNvSpPr txBox="1"/>
          <p:nvPr>
            <p:ph type="title"/>
          </p:nvPr>
        </p:nvSpPr>
        <p:spPr>
          <a:xfrm>
            <a:off x="455475" y="256688"/>
            <a:ext cx="77304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AGENDA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3"/>
          <p:cNvSpPr txBox="1"/>
          <p:nvPr>
            <p:ph type="title"/>
          </p:nvPr>
        </p:nvSpPr>
        <p:spPr>
          <a:xfrm>
            <a:off x="455475" y="256688"/>
            <a:ext cx="77304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Region Position Shift</a:t>
            </a:r>
            <a:endParaRPr/>
          </a:p>
        </p:txBody>
      </p:sp>
      <p:pic>
        <p:nvPicPr>
          <p:cNvPr id="103" name="Google Shape;103;p23"/>
          <p:cNvPicPr preferRelativeResize="0"/>
          <p:nvPr/>
        </p:nvPicPr>
        <p:blipFill rotWithShape="1">
          <a:blip r:embed="rId3">
            <a:alphaModFix/>
          </a:blip>
          <a:srcRect b="7117" l="12206" r="26301" t="21779"/>
          <a:stretch/>
        </p:blipFill>
        <p:spPr>
          <a:xfrm>
            <a:off x="226900" y="1100552"/>
            <a:ext cx="3066895" cy="2659653"/>
          </a:xfrm>
          <a:prstGeom prst="rect">
            <a:avLst/>
          </a:prstGeom>
          <a:noFill/>
          <a:ln>
            <a:noFill/>
          </a:ln>
        </p:spPr>
      </p:pic>
      <p:pic>
        <p:nvPicPr>
          <p:cNvPr id="104" name="Google Shape;104;p23"/>
          <p:cNvPicPr preferRelativeResize="0"/>
          <p:nvPr/>
        </p:nvPicPr>
        <p:blipFill>
          <a:blip r:embed="rId4">
            <a:alphaModFix/>
          </a:blip>
          <a:stretch>
            <a:fillRect/>
          </a:stretch>
        </p:blipFill>
        <p:spPr>
          <a:xfrm>
            <a:off x="3216785" y="1100563"/>
            <a:ext cx="3324565" cy="2659652"/>
          </a:xfrm>
          <a:prstGeom prst="rect">
            <a:avLst/>
          </a:prstGeom>
          <a:noFill/>
          <a:ln>
            <a:noFill/>
          </a:ln>
        </p:spPr>
      </p:pic>
      <p:sp>
        <p:nvSpPr>
          <p:cNvPr id="105" name="Google Shape;105;p23"/>
          <p:cNvSpPr txBox="1"/>
          <p:nvPr/>
        </p:nvSpPr>
        <p:spPr>
          <a:xfrm>
            <a:off x="-159352" y="4182375"/>
            <a:ext cx="7223700" cy="40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dk1"/>
                </a:solidFill>
              </a:rPr>
              <a:t>Slightly shift up to avoid C row.</a:t>
            </a:r>
            <a:endParaRPr sz="1500">
              <a:solidFill>
                <a:schemeClr val="dk1"/>
              </a:solidFill>
            </a:endParaRPr>
          </a:p>
          <a:p>
            <a:pPr indent="0" lvl="0" marL="0" rtl="0" algn="ctr">
              <a:spcBef>
                <a:spcPts val="0"/>
              </a:spcBef>
              <a:spcAft>
                <a:spcPts val="0"/>
              </a:spcAft>
              <a:buNone/>
            </a:pPr>
            <a:r>
              <a:rPr lang="en" sz="1500">
                <a:solidFill>
                  <a:schemeClr val="dk1"/>
                </a:solidFill>
              </a:rPr>
              <a:t>In order to suggest those F and FC as Frontal lobe clearer than prev version(?)</a:t>
            </a:r>
            <a:endParaRPr sz="1500">
              <a:solidFill>
                <a:schemeClr val="dk1"/>
              </a:solidFill>
            </a:endParaRPr>
          </a:p>
        </p:txBody>
      </p:sp>
      <p:pic>
        <p:nvPicPr>
          <p:cNvPr id="106" name="Google Shape;106;p23"/>
          <p:cNvPicPr preferRelativeResize="0"/>
          <p:nvPr/>
        </p:nvPicPr>
        <p:blipFill>
          <a:blip r:embed="rId5">
            <a:alphaModFix/>
          </a:blip>
          <a:stretch>
            <a:fillRect/>
          </a:stretch>
        </p:blipFill>
        <p:spPr>
          <a:xfrm>
            <a:off x="6714291" y="1917425"/>
            <a:ext cx="2569650" cy="1504175"/>
          </a:xfrm>
          <a:prstGeom prst="rect">
            <a:avLst/>
          </a:prstGeom>
          <a:noFill/>
          <a:ln>
            <a:noFill/>
          </a:ln>
        </p:spPr>
      </p:pic>
      <p:cxnSp>
        <p:nvCxnSpPr>
          <p:cNvPr id="107" name="Google Shape;107;p23"/>
          <p:cNvCxnSpPr/>
          <p:nvPr/>
        </p:nvCxnSpPr>
        <p:spPr>
          <a:xfrm>
            <a:off x="7758400" y="1275950"/>
            <a:ext cx="0" cy="1154700"/>
          </a:xfrm>
          <a:prstGeom prst="straightConnector1">
            <a:avLst/>
          </a:prstGeom>
          <a:noFill/>
          <a:ln cap="flat" cmpd="sng" w="38100">
            <a:solidFill>
              <a:srgbClr val="CC0000"/>
            </a:solidFill>
            <a:prstDash val="dash"/>
            <a:round/>
            <a:headEnd len="med" w="med" type="none"/>
            <a:tailEnd len="med" w="med" type="none"/>
          </a:ln>
        </p:spPr>
      </p:cxnSp>
      <p:sp>
        <p:nvSpPr>
          <p:cNvPr id="108" name="Google Shape;108;p23"/>
          <p:cNvSpPr/>
          <p:nvPr/>
        </p:nvSpPr>
        <p:spPr>
          <a:xfrm>
            <a:off x="7603300" y="994850"/>
            <a:ext cx="310200" cy="281100"/>
          </a:xfrm>
          <a:prstGeom prst="ellipse">
            <a:avLst/>
          </a:prstGeom>
          <a:noFill/>
          <a:ln cap="flat" cmpd="sng" w="2857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351C75"/>
                </a:solidFill>
              </a:rPr>
              <a:t>C</a:t>
            </a:r>
            <a:endParaRPr b="1" sz="1000">
              <a:solidFill>
                <a:srgbClr val="351C75"/>
              </a:solidFill>
            </a:endParaRPr>
          </a:p>
        </p:txBody>
      </p:sp>
      <p:sp>
        <p:nvSpPr>
          <p:cNvPr id="109" name="Google Shape;109;p23"/>
          <p:cNvSpPr/>
          <p:nvPr/>
        </p:nvSpPr>
        <p:spPr>
          <a:xfrm>
            <a:off x="7571800" y="1275950"/>
            <a:ext cx="341700" cy="1096500"/>
          </a:xfrm>
          <a:prstGeom prst="rect">
            <a:avLst/>
          </a:prstGeom>
          <a:solidFill>
            <a:srgbClr val="D5A6BD">
              <a:alpha val="310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23"/>
          <p:cNvSpPr txBox="1"/>
          <p:nvPr/>
        </p:nvSpPr>
        <p:spPr>
          <a:xfrm>
            <a:off x="996400" y="3781700"/>
            <a:ext cx="1527900" cy="379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dk1"/>
                </a:solidFill>
              </a:rPr>
              <a:t>New</a:t>
            </a:r>
            <a:endParaRPr b="1" sz="1500">
              <a:solidFill>
                <a:schemeClr val="dk1"/>
              </a:solidFill>
            </a:endParaRPr>
          </a:p>
        </p:txBody>
      </p:sp>
      <p:sp>
        <p:nvSpPr>
          <p:cNvPr id="111" name="Google Shape;111;p23"/>
          <p:cNvSpPr txBox="1"/>
          <p:nvPr/>
        </p:nvSpPr>
        <p:spPr>
          <a:xfrm>
            <a:off x="4115109" y="3781700"/>
            <a:ext cx="1527900" cy="379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dk1"/>
                </a:solidFill>
              </a:rPr>
              <a:t>Old</a:t>
            </a:r>
            <a:endParaRPr b="1" sz="15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4"/>
          <p:cNvSpPr txBox="1"/>
          <p:nvPr>
            <p:ph type="title"/>
          </p:nvPr>
        </p:nvSpPr>
        <p:spPr>
          <a:xfrm>
            <a:off x="455475" y="256688"/>
            <a:ext cx="77304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Brief Summary </a:t>
            </a:r>
            <a:endParaRPr/>
          </a:p>
        </p:txBody>
      </p:sp>
      <p:sp>
        <p:nvSpPr>
          <p:cNvPr id="117" name="Google Shape;117;p24"/>
          <p:cNvSpPr txBox="1"/>
          <p:nvPr>
            <p:ph idx="1" type="body"/>
          </p:nvPr>
        </p:nvSpPr>
        <p:spPr>
          <a:xfrm>
            <a:off x="455475" y="1062825"/>
            <a:ext cx="8345400" cy="3807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In our results</a:t>
            </a:r>
            <a:endParaRPr/>
          </a:p>
          <a:p>
            <a:pPr indent="-317500" lvl="0" marL="457200" rtl="0" algn="l">
              <a:spcBef>
                <a:spcPts val="1200"/>
              </a:spcBef>
              <a:spcAft>
                <a:spcPts val="0"/>
              </a:spcAft>
              <a:buClr>
                <a:srgbClr val="666666"/>
              </a:buClr>
              <a:buSzPts val="1400"/>
              <a:buChar char="●"/>
            </a:pPr>
            <a:r>
              <a:rPr lang="en">
                <a:solidFill>
                  <a:srgbClr val="990000"/>
                </a:solidFill>
              </a:rPr>
              <a:t>Global Density</a:t>
            </a:r>
            <a:r>
              <a:rPr b="0" lang="en">
                <a:solidFill>
                  <a:srgbClr val="666666"/>
                </a:solidFill>
              </a:rPr>
              <a:t> and routing efficiency or </a:t>
            </a:r>
            <a:r>
              <a:rPr lang="en">
                <a:solidFill>
                  <a:srgbClr val="990000"/>
                </a:solidFill>
              </a:rPr>
              <a:t>RE (@Right Fronto-Parietal)</a:t>
            </a:r>
            <a:r>
              <a:rPr b="0" lang="en">
                <a:solidFill>
                  <a:srgbClr val="666666"/>
                </a:solidFill>
              </a:rPr>
              <a:t> significantly </a:t>
            </a:r>
            <a:r>
              <a:rPr lang="en">
                <a:solidFill>
                  <a:srgbClr val="990000"/>
                </a:solidFill>
              </a:rPr>
              <a:t>increased in SAL for HC</a:t>
            </a:r>
            <a:r>
              <a:rPr b="0" lang="en">
                <a:solidFill>
                  <a:srgbClr val="666666"/>
                </a:solidFill>
              </a:rPr>
              <a:t> but small decreased for MCI</a:t>
            </a:r>
            <a:endParaRPr b="0">
              <a:solidFill>
                <a:srgbClr val="666666"/>
              </a:solidFill>
            </a:endParaRPr>
          </a:p>
          <a:p>
            <a:pPr indent="-317500" lvl="0" marL="457200" rtl="0" algn="l">
              <a:spcBef>
                <a:spcPts val="0"/>
              </a:spcBef>
              <a:spcAft>
                <a:spcPts val="0"/>
              </a:spcAft>
              <a:buClr>
                <a:srgbClr val="666666"/>
              </a:buClr>
              <a:buSzPts val="1400"/>
              <a:buChar char="●"/>
            </a:pPr>
            <a:r>
              <a:rPr b="0" lang="en">
                <a:solidFill>
                  <a:srgbClr val="666666"/>
                </a:solidFill>
              </a:rPr>
              <a:t>Suggest that the area which involve this activity is </a:t>
            </a:r>
            <a:r>
              <a:rPr lang="en">
                <a:solidFill>
                  <a:srgbClr val="990000"/>
                </a:solidFill>
              </a:rPr>
              <a:t>Fronto-basal ganglia </a:t>
            </a:r>
            <a:r>
              <a:rPr lang="en">
                <a:solidFill>
                  <a:srgbClr val="990000"/>
                </a:solidFill>
              </a:rPr>
              <a:t>network</a:t>
            </a:r>
            <a:endParaRPr>
              <a:solidFill>
                <a:srgbClr val="990000"/>
              </a:solidFill>
            </a:endParaRPr>
          </a:p>
          <a:p>
            <a:pPr indent="0" lvl="0" marL="0" rtl="0" algn="l">
              <a:spcBef>
                <a:spcPts val="1200"/>
              </a:spcBef>
              <a:spcAft>
                <a:spcPts val="0"/>
              </a:spcAft>
              <a:buNone/>
            </a:pPr>
            <a:r>
              <a:rPr lang="en"/>
              <a:t>Support Evidence</a:t>
            </a:r>
            <a:endParaRPr/>
          </a:p>
          <a:p>
            <a:pPr indent="-317500" lvl="0" marL="457200" rtl="0" algn="l">
              <a:spcBef>
                <a:spcPts val="1200"/>
              </a:spcBef>
              <a:spcAft>
                <a:spcPts val="0"/>
              </a:spcAft>
              <a:buSzPts val="1400"/>
              <a:buChar char="●"/>
            </a:pPr>
            <a:r>
              <a:rPr lang="en"/>
              <a:t>Basal ganglion has the rules about cognitive function (including attention and working memory)</a:t>
            </a:r>
            <a:endParaRPr/>
          </a:p>
          <a:p>
            <a:pPr indent="-304800" lvl="1" marL="914400" rtl="0" algn="l">
              <a:spcBef>
                <a:spcPts val="0"/>
              </a:spcBef>
              <a:spcAft>
                <a:spcPts val="0"/>
              </a:spcAft>
              <a:buSzPts val="1200"/>
              <a:buChar char="○"/>
            </a:pPr>
            <a:r>
              <a:rPr lang="en"/>
              <a:t>In the resting state : have a research comparing </a:t>
            </a:r>
            <a:r>
              <a:rPr lang="en"/>
              <a:t>working</a:t>
            </a:r>
            <a:r>
              <a:rPr lang="en"/>
              <a:t> of neuron in basal ganglia network comparing in healthy, MCI and AD patients using EEG and fMRI. Resulting that in MCI group has decrease FCD but increase FC strength that it claims about compensating of external neuron compensation and the internal functional recession of neostriatum in  early cognitive declines</a:t>
            </a:r>
            <a:endParaRPr/>
          </a:p>
          <a:p>
            <a:pPr indent="-304800" lvl="1" marL="914400" rtl="0" algn="l">
              <a:spcBef>
                <a:spcPts val="0"/>
              </a:spcBef>
              <a:spcAft>
                <a:spcPts val="0"/>
              </a:spcAft>
              <a:buSzPts val="1200"/>
              <a:buChar char="○"/>
            </a:pPr>
            <a:r>
              <a:rPr lang="en"/>
              <a:t>Surprising event can </a:t>
            </a:r>
            <a:r>
              <a:rPr lang="en"/>
              <a:t>disrupt</a:t>
            </a:r>
            <a:r>
              <a:rPr lang="en"/>
              <a:t> working memory via basal ganglia network suggested the chain of events in the motor suppression-independent component (MS-ICs)</a:t>
            </a:r>
            <a:endParaRPr/>
          </a:p>
          <a:p>
            <a:pPr indent="-317500" lvl="0" marL="457200" rtl="0" algn="l">
              <a:spcBef>
                <a:spcPts val="0"/>
              </a:spcBef>
              <a:spcAft>
                <a:spcPts val="0"/>
              </a:spcAft>
              <a:buSzPts val="1400"/>
              <a:buChar char="●"/>
            </a:pPr>
            <a:r>
              <a:rPr lang="en"/>
              <a:t>Routing efficiency (RE) refers to efficient of the brain network</a:t>
            </a:r>
            <a:endParaRPr/>
          </a:p>
          <a:p>
            <a:pPr indent="-304800" lvl="1" marL="914400" rtl="0" algn="l">
              <a:spcBef>
                <a:spcPts val="0"/>
              </a:spcBef>
              <a:spcAft>
                <a:spcPts val="0"/>
              </a:spcAft>
              <a:buSzPts val="1200"/>
              <a:buChar char="○"/>
            </a:pPr>
            <a:r>
              <a:rPr lang="en"/>
              <a:t>Increase the task difficulty requires further </a:t>
            </a:r>
            <a:r>
              <a:rPr lang="en"/>
              <a:t>synchronization</a:t>
            </a:r>
            <a:r>
              <a:rPr lang="en"/>
              <a:t> of the brain network</a:t>
            </a:r>
            <a:endParaRPr/>
          </a:p>
          <a:p>
            <a:pPr indent="-304800" lvl="1" marL="914400" rtl="0" algn="l">
              <a:spcBef>
                <a:spcPts val="0"/>
              </a:spcBef>
              <a:spcAft>
                <a:spcPts val="0"/>
              </a:spcAft>
              <a:buSzPts val="1200"/>
              <a:buChar char="○"/>
            </a:pPr>
            <a:r>
              <a:rPr lang="en"/>
              <a:t>In MCI has lower RE in all cases (whole brain, intral left and right hemispheres)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5"/>
          <p:cNvSpPr txBox="1"/>
          <p:nvPr>
            <p:ph idx="1" type="body"/>
          </p:nvPr>
        </p:nvSpPr>
        <p:spPr>
          <a:xfrm>
            <a:off x="399300" y="1030725"/>
            <a:ext cx="83454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Char char="●"/>
            </a:pPr>
            <a:r>
              <a:rPr b="0" lang="en">
                <a:solidFill>
                  <a:schemeClr val="dk1"/>
                </a:solidFill>
              </a:rPr>
              <a:t>Should we </a:t>
            </a:r>
            <a:r>
              <a:rPr lang="en">
                <a:solidFill>
                  <a:srgbClr val="990000"/>
                </a:solidFill>
              </a:rPr>
              <a:t>change</a:t>
            </a:r>
            <a:r>
              <a:rPr b="0" lang="en">
                <a:solidFill>
                  <a:schemeClr val="dk1"/>
                </a:solidFill>
              </a:rPr>
              <a:t> the </a:t>
            </a:r>
            <a:r>
              <a:rPr lang="en">
                <a:solidFill>
                  <a:srgbClr val="990000"/>
                </a:solidFill>
              </a:rPr>
              <a:t>border </a:t>
            </a:r>
            <a:r>
              <a:rPr b="0" lang="en">
                <a:solidFill>
                  <a:schemeClr val="dk1"/>
                </a:solidFill>
              </a:rPr>
              <a:t>area of the </a:t>
            </a:r>
            <a:r>
              <a:rPr lang="en">
                <a:solidFill>
                  <a:srgbClr val="990000"/>
                </a:solidFill>
              </a:rPr>
              <a:t>EEG electrodes</a:t>
            </a:r>
            <a:r>
              <a:rPr b="0" lang="en">
                <a:solidFill>
                  <a:schemeClr val="dk1"/>
                </a:solidFill>
              </a:rPr>
              <a:t>?</a:t>
            </a:r>
            <a:endParaRPr b="0">
              <a:solidFill>
                <a:schemeClr val="dk1"/>
              </a:solidFill>
            </a:endParaRPr>
          </a:p>
          <a:p>
            <a:pPr indent="-311150" lvl="1" marL="914400" rtl="0" algn="l">
              <a:spcBef>
                <a:spcPts val="0"/>
              </a:spcBef>
              <a:spcAft>
                <a:spcPts val="0"/>
              </a:spcAft>
              <a:buSzPts val="1300"/>
              <a:buChar char="○"/>
            </a:pPr>
            <a:r>
              <a:rPr lang="en" sz="1300"/>
              <a:t>Potential</a:t>
            </a:r>
            <a:r>
              <a:rPr lang="en" sz="1300"/>
              <a:t> </a:t>
            </a:r>
            <a:r>
              <a:rPr b="1" lang="en" sz="1300">
                <a:solidFill>
                  <a:srgbClr val="990000"/>
                </a:solidFill>
              </a:rPr>
              <a:t>overlapping</a:t>
            </a:r>
            <a:r>
              <a:rPr lang="en" sz="1300"/>
              <a:t> signals of frontal and parietal lobe</a:t>
            </a:r>
            <a:endParaRPr sz="1300"/>
          </a:p>
          <a:p>
            <a:pPr indent="-317500" lvl="0" marL="457200" rtl="0" algn="l">
              <a:spcBef>
                <a:spcPts val="0"/>
              </a:spcBef>
              <a:spcAft>
                <a:spcPts val="0"/>
              </a:spcAft>
              <a:buClr>
                <a:schemeClr val="dk1"/>
              </a:buClr>
              <a:buSzPts val="1400"/>
              <a:buChar char="●"/>
            </a:pPr>
            <a:r>
              <a:rPr lang="en">
                <a:solidFill>
                  <a:srgbClr val="990000"/>
                </a:solidFill>
              </a:rPr>
              <a:t>RE increased in SAL for HC</a:t>
            </a:r>
            <a:r>
              <a:rPr b="0" lang="en">
                <a:solidFill>
                  <a:schemeClr val="dk1"/>
                </a:solidFill>
              </a:rPr>
              <a:t>, causing by </a:t>
            </a:r>
            <a:r>
              <a:rPr lang="en">
                <a:solidFill>
                  <a:srgbClr val="990000"/>
                </a:solidFill>
              </a:rPr>
              <a:t>Basal Ganglia</a:t>
            </a:r>
            <a:r>
              <a:rPr b="0" lang="en">
                <a:solidFill>
                  <a:schemeClr val="dk1"/>
                </a:solidFill>
              </a:rPr>
              <a:t> was activated by </a:t>
            </a:r>
            <a:r>
              <a:rPr lang="en">
                <a:solidFill>
                  <a:srgbClr val="990000"/>
                </a:solidFill>
              </a:rPr>
              <a:t>Surprising</a:t>
            </a:r>
            <a:r>
              <a:rPr b="0" lang="en">
                <a:solidFill>
                  <a:schemeClr val="dk1"/>
                </a:solidFill>
              </a:rPr>
              <a:t> event, is this reasonable?</a:t>
            </a:r>
            <a:endParaRPr b="0">
              <a:solidFill>
                <a:schemeClr val="dk1"/>
              </a:solidFill>
            </a:endParaRPr>
          </a:p>
          <a:p>
            <a:pPr indent="-317500" lvl="0" marL="457200" rtl="0" algn="l">
              <a:spcBef>
                <a:spcPts val="0"/>
              </a:spcBef>
              <a:spcAft>
                <a:spcPts val="0"/>
              </a:spcAft>
              <a:buClr>
                <a:schemeClr val="dk1"/>
              </a:buClr>
              <a:buSzPts val="1400"/>
              <a:buChar char="●"/>
            </a:pPr>
            <a:r>
              <a:rPr b="0" lang="en">
                <a:solidFill>
                  <a:schemeClr val="dk1"/>
                </a:solidFill>
              </a:rPr>
              <a:t>Any other brain area that can be the reason why this </a:t>
            </a:r>
            <a:r>
              <a:rPr b="0" lang="en">
                <a:solidFill>
                  <a:schemeClr val="dk1"/>
                </a:solidFill>
              </a:rPr>
              <a:t>results happened? </a:t>
            </a:r>
            <a:endParaRPr b="0">
              <a:solidFill>
                <a:schemeClr val="dk1"/>
              </a:solidFill>
            </a:endParaRPr>
          </a:p>
          <a:p>
            <a:pPr indent="-317500" lvl="0" marL="457200" rtl="0" algn="l">
              <a:spcBef>
                <a:spcPts val="0"/>
              </a:spcBef>
              <a:spcAft>
                <a:spcPts val="0"/>
              </a:spcAft>
              <a:buClr>
                <a:schemeClr val="dk1"/>
              </a:buClr>
              <a:buSzPts val="1400"/>
              <a:buChar char="●"/>
            </a:pPr>
            <a:r>
              <a:rPr lang="en">
                <a:solidFill>
                  <a:srgbClr val="990000"/>
                </a:solidFill>
              </a:rPr>
              <a:t>Other mechanics</a:t>
            </a:r>
            <a:r>
              <a:rPr b="0" lang="en">
                <a:solidFill>
                  <a:schemeClr val="dk1"/>
                </a:solidFill>
              </a:rPr>
              <a:t>, apart from fronto-basal ganglia network?</a:t>
            </a:r>
            <a:endParaRPr b="0">
              <a:solidFill>
                <a:schemeClr val="dk1"/>
              </a:solidFill>
            </a:endParaRPr>
          </a:p>
        </p:txBody>
      </p:sp>
      <p:sp>
        <p:nvSpPr>
          <p:cNvPr id="123" name="Google Shape;123;p25"/>
          <p:cNvSpPr txBox="1"/>
          <p:nvPr>
            <p:ph type="title"/>
          </p:nvPr>
        </p:nvSpPr>
        <p:spPr>
          <a:xfrm>
            <a:off x="455475" y="256688"/>
            <a:ext cx="77304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What’s next?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graphicFrame>
        <p:nvGraphicFramePr>
          <p:cNvPr id="128" name="Google Shape;128;p26"/>
          <p:cNvGraphicFramePr/>
          <p:nvPr/>
        </p:nvGraphicFramePr>
        <p:xfrm>
          <a:off x="161388" y="3890900"/>
          <a:ext cx="3000000" cy="3000000"/>
        </p:xfrm>
        <a:graphic>
          <a:graphicData uri="http://schemas.openxmlformats.org/drawingml/2006/table">
            <a:tbl>
              <a:tblPr>
                <a:noFill/>
                <a:tableStyleId>{D04C27B6-2128-4D3A-BD79-397917448CAA}</a:tableStyleId>
              </a:tblPr>
              <a:tblGrid>
                <a:gridCol w="1068450"/>
                <a:gridCol w="382850"/>
                <a:gridCol w="1032900"/>
                <a:gridCol w="2865925"/>
              </a:tblGrid>
              <a:tr h="767500">
                <a:tc gridSpan="2">
                  <a:txBody>
                    <a:bodyPr/>
                    <a:lstStyle/>
                    <a:p>
                      <a:pPr indent="0" lvl="0" marL="0" rtl="0" algn="ctr">
                        <a:spcBef>
                          <a:spcPts val="0"/>
                        </a:spcBef>
                        <a:spcAft>
                          <a:spcPts val="0"/>
                        </a:spcAft>
                        <a:buNone/>
                      </a:pPr>
                      <a:r>
                        <a:rPr lang="en" sz="1100">
                          <a:solidFill>
                            <a:schemeClr val="dk1"/>
                          </a:solidFill>
                        </a:rPr>
                        <a:t>1. Record 148 chs MEG from subjects doing Sternberg Task</a:t>
                      </a:r>
                      <a:endParaRPr b="1" sz="1100">
                        <a:solidFill>
                          <a:srgbClr val="CC0000"/>
                        </a:solidFill>
                      </a:endParaRPr>
                    </a:p>
                  </a:txBody>
                  <a:tcPr marT="91425" marB="91425" marR="91425" marL="91425" anchor="ctr"/>
                </a:tc>
                <a:tc hMerge="1"/>
                <a:tc>
                  <a:txBody>
                    <a:bodyPr/>
                    <a:lstStyle/>
                    <a:p>
                      <a:pPr indent="0" lvl="0" marL="0" rtl="0" algn="ctr">
                        <a:spcBef>
                          <a:spcPts val="0"/>
                        </a:spcBef>
                        <a:spcAft>
                          <a:spcPts val="0"/>
                        </a:spcAft>
                        <a:buNone/>
                      </a:pPr>
                      <a:r>
                        <a:rPr lang="en" sz="1100">
                          <a:solidFill>
                            <a:srgbClr val="351C75"/>
                          </a:solidFill>
                        </a:rPr>
                        <a:t>2. Using Correlation</a:t>
                      </a:r>
                      <a:br>
                        <a:rPr lang="en" sz="1100">
                          <a:solidFill>
                            <a:srgbClr val="351C75"/>
                          </a:solidFill>
                        </a:rPr>
                      </a:br>
                      <a:r>
                        <a:rPr lang="en" sz="1100">
                          <a:solidFill>
                            <a:srgbClr val="351C75"/>
                          </a:solidFill>
                        </a:rPr>
                        <a:t>-Coef for Brain Network.</a:t>
                      </a:r>
                      <a:endParaRPr sz="800">
                        <a:solidFill>
                          <a:srgbClr val="351C75"/>
                        </a:solidFill>
                      </a:endParaRPr>
                    </a:p>
                  </a:txBody>
                  <a:tcPr marT="91425" marB="91425" marR="91425" marL="91425" anchor="ctr"/>
                </a:tc>
                <a:tc>
                  <a:txBody>
                    <a:bodyPr/>
                    <a:lstStyle/>
                    <a:p>
                      <a:pPr indent="0" lvl="0" marL="0" rtl="0" algn="l">
                        <a:spcBef>
                          <a:spcPts val="0"/>
                        </a:spcBef>
                        <a:spcAft>
                          <a:spcPts val="0"/>
                        </a:spcAft>
                        <a:buNone/>
                      </a:pPr>
                      <a:r>
                        <a:rPr lang="en" sz="1100">
                          <a:solidFill>
                            <a:srgbClr val="351C75"/>
                          </a:solidFill>
                        </a:rPr>
                        <a:t>3. Calculating Efficiency Complexity (Ce) </a:t>
                      </a:r>
                      <a:endParaRPr sz="1100">
                        <a:solidFill>
                          <a:srgbClr val="351C75"/>
                        </a:solidFill>
                      </a:endParaRPr>
                    </a:p>
                    <a:p>
                      <a:pPr indent="-298450" lvl="0" marL="457200" rtl="0" algn="l">
                        <a:spcBef>
                          <a:spcPts val="0"/>
                        </a:spcBef>
                        <a:spcAft>
                          <a:spcPts val="0"/>
                        </a:spcAft>
                        <a:buClr>
                          <a:srgbClr val="351C75"/>
                        </a:buClr>
                        <a:buSzPts val="1100"/>
                        <a:buChar char="-"/>
                      </a:pPr>
                      <a:r>
                        <a:rPr lang="en" sz="1100">
                          <a:solidFill>
                            <a:srgbClr val="351C75"/>
                          </a:solidFill>
                        </a:rPr>
                        <a:t>whole brain</a:t>
                      </a:r>
                      <a:endParaRPr sz="1100">
                        <a:solidFill>
                          <a:srgbClr val="351C75"/>
                        </a:solidFill>
                      </a:endParaRPr>
                    </a:p>
                    <a:p>
                      <a:pPr indent="-298450" lvl="0" marL="457200" rtl="0" algn="l">
                        <a:spcBef>
                          <a:spcPts val="0"/>
                        </a:spcBef>
                        <a:spcAft>
                          <a:spcPts val="0"/>
                        </a:spcAft>
                        <a:buClr>
                          <a:srgbClr val="351C75"/>
                        </a:buClr>
                        <a:buSzPts val="1100"/>
                        <a:buChar char="-"/>
                      </a:pPr>
                      <a:r>
                        <a:rPr lang="en" sz="1100">
                          <a:solidFill>
                            <a:srgbClr val="351C75"/>
                          </a:solidFill>
                        </a:rPr>
                        <a:t>intra left and right hemispheric</a:t>
                      </a:r>
                      <a:endParaRPr sz="1100">
                        <a:solidFill>
                          <a:srgbClr val="351C75"/>
                        </a:solidFill>
                      </a:endParaRPr>
                    </a:p>
                    <a:p>
                      <a:pPr indent="-298450" lvl="0" marL="457200" rtl="0" algn="l">
                        <a:spcBef>
                          <a:spcPts val="0"/>
                        </a:spcBef>
                        <a:spcAft>
                          <a:spcPts val="0"/>
                        </a:spcAft>
                        <a:buClr>
                          <a:srgbClr val="351C75"/>
                        </a:buClr>
                        <a:buSzPts val="1100"/>
                        <a:buChar char="-"/>
                      </a:pPr>
                      <a:r>
                        <a:rPr lang="en" sz="1100">
                          <a:solidFill>
                            <a:srgbClr val="351C75"/>
                          </a:solidFill>
                        </a:rPr>
                        <a:t>inter hemispheric</a:t>
                      </a:r>
                      <a:endParaRPr sz="1100">
                        <a:solidFill>
                          <a:srgbClr val="351C75"/>
                        </a:solidFill>
                      </a:endParaRPr>
                    </a:p>
                    <a:p>
                      <a:pPr indent="0" lvl="0" marL="0" rtl="0" algn="l">
                        <a:spcBef>
                          <a:spcPts val="0"/>
                        </a:spcBef>
                        <a:spcAft>
                          <a:spcPts val="0"/>
                        </a:spcAft>
                        <a:buNone/>
                      </a:pPr>
                      <a:r>
                        <a:rPr lang="en" sz="1100">
                          <a:solidFill>
                            <a:srgbClr val="351C75"/>
                          </a:solidFill>
                        </a:rPr>
                        <a:t>Hyp: MCI Ce@area1 != HC Ce@area1</a:t>
                      </a:r>
                      <a:endParaRPr sz="1100">
                        <a:solidFill>
                          <a:srgbClr val="351C75"/>
                        </a:solidFill>
                      </a:endParaRPr>
                    </a:p>
                  </a:txBody>
                  <a:tcPr marT="91425" marB="91425" marR="91425" marL="91425" anchor="ctr"/>
                </a:tc>
              </a:tr>
            </a:tbl>
          </a:graphicData>
        </a:graphic>
      </p:graphicFrame>
      <p:sp>
        <p:nvSpPr>
          <p:cNvPr id="129" name="Google Shape;129;p26"/>
          <p:cNvSpPr txBox="1"/>
          <p:nvPr/>
        </p:nvSpPr>
        <p:spPr>
          <a:xfrm>
            <a:off x="161400" y="81250"/>
            <a:ext cx="7889700" cy="138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u="sng">
                <a:solidFill>
                  <a:srgbClr val="351C75"/>
                </a:solidFill>
              </a:rPr>
              <a:t>Complexity of functional connectivity networks in mild cognitive impairment subjects during a working memory task (MEG)</a:t>
            </a:r>
            <a:endParaRPr b="1" u="sng">
              <a:solidFill>
                <a:srgbClr val="351C75"/>
              </a:solidFill>
            </a:endParaRPr>
          </a:p>
          <a:p>
            <a:pPr indent="0" lvl="0" marL="0" rtl="0" algn="l">
              <a:spcBef>
                <a:spcPts val="0"/>
              </a:spcBef>
              <a:spcAft>
                <a:spcPts val="0"/>
              </a:spcAft>
              <a:buNone/>
            </a:pPr>
            <a:r>
              <a:rPr b="1" lang="en" sz="1200" u="sng"/>
              <a:t>Quick Summary</a:t>
            </a:r>
            <a:r>
              <a:rPr b="1" lang="en" sz="1200" u="sng"/>
              <a:t>:</a:t>
            </a:r>
            <a:endParaRPr b="1" sz="1200" u="sng"/>
          </a:p>
          <a:p>
            <a:pPr indent="-304800" lvl="0" marL="457200" rtl="0" algn="l">
              <a:spcBef>
                <a:spcPts val="0"/>
              </a:spcBef>
              <a:spcAft>
                <a:spcPts val="0"/>
              </a:spcAft>
              <a:buSzPts val="1200"/>
              <a:buChar char="-"/>
            </a:pPr>
            <a:r>
              <a:rPr lang="en" sz="1200"/>
              <a:t>WM activities in MCI subjects is reduced at alpha and theta bands compared with HC</a:t>
            </a:r>
            <a:endParaRPr sz="1200"/>
          </a:p>
          <a:p>
            <a:pPr indent="-304800" lvl="0" marL="457200" rtl="0" algn="l">
              <a:spcBef>
                <a:spcPts val="0"/>
              </a:spcBef>
              <a:spcAft>
                <a:spcPts val="0"/>
              </a:spcAft>
              <a:buSzPts val="1200"/>
              <a:buChar char="-"/>
            </a:pPr>
            <a:r>
              <a:rPr lang="en" sz="1200"/>
              <a:t>In theta band this reduction is more pronounced in the whole brain and intra left hemisphere.</a:t>
            </a:r>
            <a:endParaRPr sz="1200"/>
          </a:p>
          <a:p>
            <a:pPr indent="0" lvl="0" marL="457200" rtl="0" algn="l">
              <a:spcBef>
                <a:spcPts val="0"/>
              </a:spcBef>
              <a:spcAft>
                <a:spcPts val="0"/>
              </a:spcAft>
              <a:buNone/>
            </a:pPr>
            <a:r>
              <a:t/>
            </a:r>
            <a:endParaRPr sz="1200"/>
          </a:p>
          <a:p>
            <a:pPr indent="0" lvl="0" marL="457200" rtl="0" algn="l">
              <a:spcBef>
                <a:spcPts val="0"/>
              </a:spcBef>
              <a:spcAft>
                <a:spcPts val="0"/>
              </a:spcAft>
              <a:buNone/>
            </a:pPr>
            <a:r>
              <a:t/>
            </a:r>
            <a:endParaRPr b="1" sz="1200">
              <a:solidFill>
                <a:srgbClr val="990000"/>
              </a:solidFill>
            </a:endParaRPr>
          </a:p>
        </p:txBody>
      </p:sp>
      <p:pic>
        <p:nvPicPr>
          <p:cNvPr id="130" name="Google Shape;130;p26"/>
          <p:cNvPicPr preferRelativeResize="0"/>
          <p:nvPr/>
        </p:nvPicPr>
        <p:blipFill>
          <a:blip r:embed="rId3">
            <a:alphaModFix/>
          </a:blip>
          <a:stretch>
            <a:fillRect/>
          </a:stretch>
        </p:blipFill>
        <p:spPr>
          <a:xfrm>
            <a:off x="742613" y="1459209"/>
            <a:ext cx="1564233" cy="1493900"/>
          </a:xfrm>
          <a:prstGeom prst="rect">
            <a:avLst/>
          </a:prstGeom>
          <a:noFill/>
          <a:ln>
            <a:noFill/>
          </a:ln>
        </p:spPr>
      </p:pic>
      <p:pic>
        <p:nvPicPr>
          <p:cNvPr id="131" name="Google Shape;131;p26"/>
          <p:cNvPicPr preferRelativeResize="0"/>
          <p:nvPr/>
        </p:nvPicPr>
        <p:blipFill>
          <a:blip r:embed="rId4">
            <a:alphaModFix/>
          </a:blip>
          <a:stretch>
            <a:fillRect/>
          </a:stretch>
        </p:blipFill>
        <p:spPr>
          <a:xfrm>
            <a:off x="86067" y="1282392"/>
            <a:ext cx="2410900" cy="1847525"/>
          </a:xfrm>
          <a:prstGeom prst="rect">
            <a:avLst/>
          </a:prstGeom>
          <a:noFill/>
          <a:ln>
            <a:noFill/>
          </a:ln>
        </p:spPr>
      </p:pic>
      <p:grpSp>
        <p:nvGrpSpPr>
          <p:cNvPr id="132" name="Google Shape;132;p26"/>
          <p:cNvGrpSpPr/>
          <p:nvPr/>
        </p:nvGrpSpPr>
        <p:grpSpPr>
          <a:xfrm>
            <a:off x="2723691" y="1389425"/>
            <a:ext cx="5933982" cy="1388400"/>
            <a:chOff x="2577841" y="2360363"/>
            <a:chExt cx="5933982" cy="1388400"/>
          </a:xfrm>
        </p:grpSpPr>
        <p:pic>
          <p:nvPicPr>
            <p:cNvPr id="133" name="Google Shape;133;p26"/>
            <p:cNvPicPr preferRelativeResize="0"/>
            <p:nvPr/>
          </p:nvPicPr>
          <p:blipFill>
            <a:blip r:embed="rId5">
              <a:alphaModFix/>
            </a:blip>
            <a:stretch>
              <a:fillRect/>
            </a:stretch>
          </p:blipFill>
          <p:spPr>
            <a:xfrm>
              <a:off x="2577841" y="2360363"/>
              <a:ext cx="5933982" cy="1388400"/>
            </a:xfrm>
            <a:prstGeom prst="rect">
              <a:avLst/>
            </a:prstGeom>
            <a:noFill/>
            <a:ln>
              <a:noFill/>
            </a:ln>
          </p:spPr>
        </p:pic>
        <p:sp>
          <p:nvSpPr>
            <p:cNvPr id="134" name="Google Shape;134;p26"/>
            <p:cNvSpPr/>
            <p:nvPr/>
          </p:nvSpPr>
          <p:spPr>
            <a:xfrm>
              <a:off x="3401025" y="2717675"/>
              <a:ext cx="1476900" cy="760500"/>
            </a:xfrm>
            <a:prstGeom prst="rect">
              <a:avLst/>
            </a:prstGeom>
            <a:solidFill>
              <a:srgbClr val="D5A6BD">
                <a:alpha val="310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6"/>
            <p:cNvSpPr/>
            <p:nvPr/>
          </p:nvSpPr>
          <p:spPr>
            <a:xfrm>
              <a:off x="4877925" y="3215775"/>
              <a:ext cx="1380600" cy="262500"/>
            </a:xfrm>
            <a:prstGeom prst="rect">
              <a:avLst/>
            </a:prstGeom>
            <a:solidFill>
              <a:srgbClr val="D5A6BD">
                <a:alpha val="310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p26"/>
            <p:cNvSpPr/>
            <p:nvPr/>
          </p:nvSpPr>
          <p:spPr>
            <a:xfrm>
              <a:off x="7319825" y="3215775"/>
              <a:ext cx="1191900" cy="301200"/>
            </a:xfrm>
            <a:prstGeom prst="rect">
              <a:avLst/>
            </a:prstGeom>
            <a:solidFill>
              <a:srgbClr val="D5A6BD">
                <a:alpha val="310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 name="Google Shape;137;p26"/>
            <p:cNvSpPr/>
            <p:nvPr/>
          </p:nvSpPr>
          <p:spPr>
            <a:xfrm>
              <a:off x="7319825" y="2717675"/>
              <a:ext cx="1191900" cy="301200"/>
            </a:xfrm>
            <a:prstGeom prst="rect">
              <a:avLst/>
            </a:prstGeom>
            <a:solidFill>
              <a:srgbClr val="D5A6BD">
                <a:alpha val="310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p26"/>
            <p:cNvSpPr/>
            <p:nvPr/>
          </p:nvSpPr>
          <p:spPr>
            <a:xfrm>
              <a:off x="4877925" y="2717675"/>
              <a:ext cx="1380600" cy="301200"/>
            </a:xfrm>
            <a:prstGeom prst="rect">
              <a:avLst/>
            </a:prstGeom>
            <a:solidFill>
              <a:srgbClr val="D5A6BD">
                <a:alpha val="310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9" name="Google Shape;139;p26"/>
            <p:cNvSpPr/>
            <p:nvPr/>
          </p:nvSpPr>
          <p:spPr>
            <a:xfrm>
              <a:off x="2654675" y="2983675"/>
              <a:ext cx="746400" cy="494400"/>
            </a:xfrm>
            <a:prstGeom prst="rect">
              <a:avLst/>
            </a:prstGeom>
            <a:solidFill>
              <a:srgbClr val="D5A6BD">
                <a:alpha val="310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40" name="Google Shape;140;p26"/>
          <p:cNvSpPr/>
          <p:nvPr/>
        </p:nvSpPr>
        <p:spPr>
          <a:xfrm>
            <a:off x="161400" y="1143000"/>
            <a:ext cx="310200" cy="281100"/>
          </a:xfrm>
          <a:prstGeom prst="ellipse">
            <a:avLst/>
          </a:prstGeom>
          <a:no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351C75"/>
                </a:solidFill>
              </a:rPr>
              <a:t>1</a:t>
            </a:r>
            <a:endParaRPr b="1" sz="1000">
              <a:solidFill>
                <a:srgbClr val="351C75"/>
              </a:solidFill>
            </a:endParaRPr>
          </a:p>
        </p:txBody>
      </p:sp>
      <p:sp>
        <p:nvSpPr>
          <p:cNvPr id="141" name="Google Shape;141;p26"/>
          <p:cNvSpPr/>
          <p:nvPr/>
        </p:nvSpPr>
        <p:spPr>
          <a:xfrm>
            <a:off x="2496975" y="1389438"/>
            <a:ext cx="310200" cy="281100"/>
          </a:xfrm>
          <a:prstGeom prst="ellipse">
            <a:avLst/>
          </a:prstGeom>
          <a:no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351C75"/>
                </a:solidFill>
              </a:rPr>
              <a:t>3</a:t>
            </a:r>
            <a:endParaRPr b="1" sz="1000">
              <a:solidFill>
                <a:srgbClr val="351C75"/>
              </a:solidFill>
            </a:endParaRPr>
          </a:p>
        </p:txBody>
      </p:sp>
      <p:pic>
        <p:nvPicPr>
          <p:cNvPr id="142" name="Google Shape;142;p26"/>
          <p:cNvPicPr preferRelativeResize="0"/>
          <p:nvPr/>
        </p:nvPicPr>
        <p:blipFill>
          <a:blip r:embed="rId6">
            <a:alphaModFix/>
          </a:blip>
          <a:stretch>
            <a:fillRect/>
          </a:stretch>
        </p:blipFill>
        <p:spPr>
          <a:xfrm>
            <a:off x="161400" y="3123400"/>
            <a:ext cx="2416204" cy="767500"/>
          </a:xfrm>
          <a:prstGeom prst="rect">
            <a:avLst/>
          </a:prstGeom>
          <a:noFill/>
          <a:ln>
            <a:noFill/>
          </a:ln>
        </p:spPr>
      </p:pic>
      <p:sp>
        <p:nvSpPr>
          <p:cNvPr id="143" name="Google Shape;143;p26"/>
          <p:cNvSpPr/>
          <p:nvPr/>
        </p:nvSpPr>
        <p:spPr>
          <a:xfrm>
            <a:off x="86075" y="3123388"/>
            <a:ext cx="310200" cy="281100"/>
          </a:xfrm>
          <a:prstGeom prst="ellipse">
            <a:avLst/>
          </a:prstGeom>
          <a:no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351C75"/>
                </a:solidFill>
              </a:rPr>
              <a:t>3</a:t>
            </a:r>
            <a:endParaRPr b="1" sz="1000">
              <a:solidFill>
                <a:srgbClr val="351C75"/>
              </a:solidFill>
            </a:endParaRPr>
          </a:p>
        </p:txBody>
      </p:sp>
      <p:sp>
        <p:nvSpPr>
          <p:cNvPr id="144" name="Google Shape;144;p26"/>
          <p:cNvSpPr txBox="1"/>
          <p:nvPr/>
        </p:nvSpPr>
        <p:spPr>
          <a:xfrm>
            <a:off x="2406525" y="3205313"/>
            <a:ext cx="3105000" cy="61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t>TLDR: Ce = Average (1/shortest path) for every pair of nodes in ROI </a:t>
            </a:r>
            <a:endParaRPr sz="1200"/>
          </a:p>
        </p:txBody>
      </p:sp>
      <p:pic>
        <p:nvPicPr>
          <p:cNvPr id="145" name="Google Shape;145;p26"/>
          <p:cNvPicPr preferRelativeResize="0"/>
          <p:nvPr/>
        </p:nvPicPr>
        <p:blipFill>
          <a:blip r:embed="rId7">
            <a:alphaModFix/>
          </a:blip>
          <a:stretch>
            <a:fillRect/>
          </a:stretch>
        </p:blipFill>
        <p:spPr>
          <a:xfrm>
            <a:off x="7609700" y="123700"/>
            <a:ext cx="1337204" cy="1303499"/>
          </a:xfrm>
          <a:prstGeom prst="rect">
            <a:avLst/>
          </a:prstGeom>
          <a:noFill/>
          <a:ln>
            <a:noFill/>
          </a:ln>
        </p:spPr>
      </p:pic>
      <p:sp>
        <p:nvSpPr>
          <p:cNvPr id="146" name="Google Shape;146;p26"/>
          <p:cNvSpPr/>
          <p:nvPr/>
        </p:nvSpPr>
        <p:spPr>
          <a:xfrm>
            <a:off x="7609700" y="81238"/>
            <a:ext cx="310200" cy="281100"/>
          </a:xfrm>
          <a:prstGeom prst="ellipse">
            <a:avLst/>
          </a:prstGeom>
          <a:no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351C75"/>
                </a:solidFill>
              </a:rPr>
              <a:t>2</a:t>
            </a:r>
            <a:endParaRPr b="1" sz="1000">
              <a:solidFill>
                <a:srgbClr val="351C75"/>
              </a:solidFill>
            </a:endParaRPr>
          </a:p>
        </p:txBody>
      </p:sp>
      <p:sp>
        <p:nvSpPr>
          <p:cNvPr id="147" name="Google Shape;147;p26"/>
          <p:cNvSpPr txBox="1"/>
          <p:nvPr/>
        </p:nvSpPr>
        <p:spPr>
          <a:xfrm>
            <a:off x="5607300" y="2777825"/>
            <a:ext cx="3339600" cy="203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0B5394"/>
                </a:solidFill>
              </a:rPr>
              <a:t>Take away:</a:t>
            </a:r>
            <a:endParaRPr b="1" sz="1200">
              <a:solidFill>
                <a:srgbClr val="0B5394"/>
              </a:solidFill>
            </a:endParaRPr>
          </a:p>
          <a:p>
            <a:pPr indent="-304800" lvl="0" marL="457200" rtl="0" algn="l">
              <a:spcBef>
                <a:spcPts val="0"/>
              </a:spcBef>
              <a:spcAft>
                <a:spcPts val="0"/>
              </a:spcAft>
              <a:buSzPts val="1200"/>
              <a:buAutoNum type="arabicPeriod"/>
            </a:pPr>
            <a:r>
              <a:rPr lang="en" sz="1200"/>
              <a:t>Overall method similar to our work</a:t>
            </a:r>
            <a:endParaRPr sz="1200"/>
          </a:p>
          <a:p>
            <a:pPr indent="-304800" lvl="0" marL="457200" rtl="0" algn="l">
              <a:spcBef>
                <a:spcPts val="0"/>
              </a:spcBef>
              <a:spcAft>
                <a:spcPts val="0"/>
              </a:spcAft>
              <a:buSzPts val="1200"/>
              <a:buAutoNum type="arabicPeriod"/>
            </a:pPr>
            <a:r>
              <a:rPr lang="en" sz="1200"/>
              <a:t>(Straight up claimed the meaning of Efficiency Complexity as the brain efficiency measurement)</a:t>
            </a:r>
            <a:br>
              <a:rPr lang="en" sz="1200"/>
            </a:br>
            <a:r>
              <a:rPr lang="en" sz="1200"/>
              <a:t>This work claimed that having lower Ce in MCI indicated worsen efficiency and slower information transfer, especially that it being found in Left-hemis which processing Verbal and Phonological.</a:t>
            </a:r>
            <a:endParaRPr sz="1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27"/>
          <p:cNvPicPr preferRelativeResize="0"/>
          <p:nvPr/>
        </p:nvPicPr>
        <p:blipFill>
          <a:blip r:embed="rId3">
            <a:alphaModFix/>
          </a:blip>
          <a:stretch>
            <a:fillRect/>
          </a:stretch>
        </p:blipFill>
        <p:spPr>
          <a:xfrm>
            <a:off x="193237" y="862325"/>
            <a:ext cx="2514213" cy="2686417"/>
          </a:xfrm>
          <a:prstGeom prst="rect">
            <a:avLst/>
          </a:prstGeom>
          <a:noFill/>
          <a:ln>
            <a:noFill/>
          </a:ln>
        </p:spPr>
      </p:pic>
      <p:pic>
        <p:nvPicPr>
          <p:cNvPr id="153" name="Google Shape;153;p27"/>
          <p:cNvPicPr preferRelativeResize="0"/>
          <p:nvPr/>
        </p:nvPicPr>
        <p:blipFill>
          <a:blip r:embed="rId4">
            <a:alphaModFix/>
          </a:blip>
          <a:stretch>
            <a:fillRect/>
          </a:stretch>
        </p:blipFill>
        <p:spPr>
          <a:xfrm>
            <a:off x="5228275" y="787725"/>
            <a:ext cx="3693350" cy="2958449"/>
          </a:xfrm>
          <a:prstGeom prst="rect">
            <a:avLst/>
          </a:prstGeom>
          <a:noFill/>
          <a:ln>
            <a:noFill/>
          </a:ln>
        </p:spPr>
      </p:pic>
      <p:sp>
        <p:nvSpPr>
          <p:cNvPr id="154" name="Google Shape;154;p27"/>
          <p:cNvSpPr txBox="1"/>
          <p:nvPr/>
        </p:nvSpPr>
        <p:spPr>
          <a:xfrm>
            <a:off x="865425" y="122425"/>
            <a:ext cx="7931100" cy="60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Interaction of Saliency and Group Effect on </a:t>
            </a:r>
            <a:r>
              <a:rPr b="1" lang="en">
                <a:solidFill>
                  <a:srgbClr val="CC0000"/>
                </a:solidFill>
              </a:rPr>
              <a:t>Global Density</a:t>
            </a:r>
            <a:br>
              <a:rPr b="1" lang="en">
                <a:solidFill>
                  <a:srgbClr val="CC0000"/>
                </a:solidFill>
              </a:rPr>
            </a:br>
            <a:r>
              <a:rPr b="1" lang="en"/>
              <a:t>(Coherence Network, Total Power, Beta Band)</a:t>
            </a:r>
            <a:endParaRPr b="1">
              <a:solidFill>
                <a:srgbClr val="1C4587"/>
              </a:solidFill>
            </a:endParaRPr>
          </a:p>
        </p:txBody>
      </p:sp>
      <p:sp>
        <p:nvSpPr>
          <p:cNvPr id="155" name="Google Shape;155;p27"/>
          <p:cNvSpPr txBox="1"/>
          <p:nvPr/>
        </p:nvSpPr>
        <p:spPr>
          <a:xfrm>
            <a:off x="595050" y="3548750"/>
            <a:ext cx="15726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t>P value = 0.0047</a:t>
            </a:r>
            <a:endParaRPr sz="900"/>
          </a:p>
          <a:p>
            <a:pPr indent="0" lvl="0" marL="0" rtl="0" algn="ctr">
              <a:spcBef>
                <a:spcPts val="0"/>
              </a:spcBef>
              <a:spcAft>
                <a:spcPts val="0"/>
              </a:spcAft>
              <a:buNone/>
            </a:pPr>
            <a:r>
              <a:rPr lang="en" sz="900"/>
              <a:t>SAL &gt;&gt; NonSAL</a:t>
            </a:r>
            <a:endParaRPr sz="900"/>
          </a:p>
          <a:p>
            <a:pPr indent="0" lvl="0" marL="0" rtl="0" algn="ctr">
              <a:spcBef>
                <a:spcPts val="0"/>
              </a:spcBef>
              <a:spcAft>
                <a:spcPts val="0"/>
              </a:spcAft>
              <a:buNone/>
            </a:pPr>
            <a:r>
              <a:rPr lang="en" sz="900"/>
              <a:t>(paired)</a:t>
            </a:r>
            <a:endParaRPr sz="900"/>
          </a:p>
        </p:txBody>
      </p:sp>
      <p:sp>
        <p:nvSpPr>
          <p:cNvPr id="156" name="Google Shape;156;p27"/>
          <p:cNvSpPr txBox="1"/>
          <p:nvPr/>
        </p:nvSpPr>
        <p:spPr>
          <a:xfrm>
            <a:off x="6288650" y="3548750"/>
            <a:ext cx="15726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t>P value = 0.00011</a:t>
            </a:r>
            <a:endParaRPr sz="900"/>
          </a:p>
          <a:p>
            <a:pPr indent="0" lvl="0" marL="0" rtl="0" algn="ctr">
              <a:spcBef>
                <a:spcPts val="0"/>
              </a:spcBef>
              <a:spcAft>
                <a:spcPts val="0"/>
              </a:spcAft>
              <a:buNone/>
            </a:pPr>
            <a:r>
              <a:rPr lang="en" sz="900"/>
              <a:t>(two-sample)</a:t>
            </a:r>
            <a:endParaRPr sz="900"/>
          </a:p>
        </p:txBody>
      </p:sp>
      <p:sp>
        <p:nvSpPr>
          <p:cNvPr id="157" name="Google Shape;157;p27"/>
          <p:cNvSpPr txBox="1"/>
          <p:nvPr/>
        </p:nvSpPr>
        <p:spPr>
          <a:xfrm>
            <a:off x="532150" y="662525"/>
            <a:ext cx="15726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t>Healthy Controls</a:t>
            </a:r>
            <a:endParaRPr b="1" sz="1100">
              <a:solidFill>
                <a:srgbClr val="1155CC"/>
              </a:solidFill>
            </a:endParaRPr>
          </a:p>
        </p:txBody>
      </p:sp>
      <p:sp>
        <p:nvSpPr>
          <p:cNvPr id="158" name="Google Shape;158;p27"/>
          <p:cNvSpPr txBox="1"/>
          <p:nvPr/>
        </p:nvSpPr>
        <p:spPr>
          <a:xfrm>
            <a:off x="3016475" y="662525"/>
            <a:ext cx="15726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t>MCI</a:t>
            </a:r>
            <a:endParaRPr b="1" sz="1100">
              <a:solidFill>
                <a:srgbClr val="1155CC"/>
              </a:solidFill>
            </a:endParaRPr>
          </a:p>
        </p:txBody>
      </p:sp>
      <p:pic>
        <p:nvPicPr>
          <p:cNvPr id="159" name="Google Shape;159;p27"/>
          <p:cNvPicPr preferRelativeResize="0"/>
          <p:nvPr/>
        </p:nvPicPr>
        <p:blipFill>
          <a:blip r:embed="rId5">
            <a:alphaModFix/>
          </a:blip>
          <a:stretch>
            <a:fillRect/>
          </a:stretch>
        </p:blipFill>
        <p:spPr>
          <a:xfrm>
            <a:off x="2708225" y="862325"/>
            <a:ext cx="2514213" cy="2686425"/>
          </a:xfrm>
          <a:prstGeom prst="rect">
            <a:avLst/>
          </a:prstGeom>
          <a:noFill/>
          <a:ln>
            <a:noFill/>
          </a:ln>
        </p:spPr>
      </p:pic>
      <p:sp>
        <p:nvSpPr>
          <p:cNvPr id="160" name="Google Shape;160;p27"/>
          <p:cNvSpPr txBox="1"/>
          <p:nvPr/>
        </p:nvSpPr>
        <p:spPr>
          <a:xfrm>
            <a:off x="3139925" y="3548750"/>
            <a:ext cx="15726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t>P value = 0.088</a:t>
            </a:r>
            <a:endParaRPr sz="900"/>
          </a:p>
          <a:p>
            <a:pPr indent="0" lvl="0" marL="0" rtl="0" algn="ctr">
              <a:spcBef>
                <a:spcPts val="0"/>
              </a:spcBef>
              <a:spcAft>
                <a:spcPts val="0"/>
              </a:spcAft>
              <a:buNone/>
            </a:pPr>
            <a:r>
              <a:rPr lang="en" sz="900"/>
              <a:t>SAL &lt; NonSAL</a:t>
            </a:r>
            <a:endParaRPr sz="900"/>
          </a:p>
          <a:p>
            <a:pPr indent="0" lvl="0" marL="0" rtl="0" algn="ctr">
              <a:spcBef>
                <a:spcPts val="0"/>
              </a:spcBef>
              <a:spcAft>
                <a:spcPts val="0"/>
              </a:spcAft>
              <a:buNone/>
            </a:pPr>
            <a:r>
              <a:rPr lang="en" sz="900"/>
              <a:t>(paired)</a:t>
            </a:r>
            <a:endParaRPr sz="900"/>
          </a:p>
        </p:txBody>
      </p:sp>
      <p:sp>
        <p:nvSpPr>
          <p:cNvPr id="161" name="Google Shape;161;p27"/>
          <p:cNvSpPr txBox="1"/>
          <p:nvPr/>
        </p:nvSpPr>
        <p:spPr>
          <a:xfrm>
            <a:off x="464650" y="4132675"/>
            <a:ext cx="83319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Several studies indicate that an increase in the task difficulty requires further synchronization of the brain network (Korobeinikova and Karatygin, 2012; Bernarding et al., 2013). </a:t>
            </a:r>
            <a:r>
              <a:rPr lang="en" sz="1200">
                <a:solidFill>
                  <a:schemeClr val="dk1"/>
                </a:solidFill>
              </a:rPr>
              <a:t>The authors hypothesize that MCI subjects are more inefficient in the task execution. </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p:txBody>
      </p:sp>
      <p:sp>
        <p:nvSpPr>
          <p:cNvPr id="162" name="Google Shape;162;p27"/>
          <p:cNvSpPr txBox="1"/>
          <p:nvPr/>
        </p:nvSpPr>
        <p:spPr>
          <a:xfrm>
            <a:off x="6094550" y="662525"/>
            <a:ext cx="19608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t>Global Density Change</a:t>
            </a:r>
            <a:endParaRPr b="1" sz="1100"/>
          </a:p>
          <a:p>
            <a:pPr indent="0" lvl="0" marL="0" rtl="0" algn="ctr">
              <a:spcBef>
                <a:spcPts val="0"/>
              </a:spcBef>
              <a:spcAft>
                <a:spcPts val="0"/>
              </a:spcAft>
              <a:buNone/>
            </a:pPr>
            <a:r>
              <a:rPr b="1" lang="en" sz="1100"/>
              <a:t>HC vs MCI</a:t>
            </a:r>
            <a:endParaRPr b="1"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id="167" name="Google Shape;167;p28"/>
          <p:cNvPicPr preferRelativeResize="0"/>
          <p:nvPr/>
        </p:nvPicPr>
        <p:blipFill>
          <a:blip r:embed="rId3">
            <a:alphaModFix/>
          </a:blip>
          <a:stretch>
            <a:fillRect/>
          </a:stretch>
        </p:blipFill>
        <p:spPr>
          <a:xfrm>
            <a:off x="229125" y="1655325"/>
            <a:ext cx="2430724" cy="1738500"/>
          </a:xfrm>
          <a:prstGeom prst="rect">
            <a:avLst/>
          </a:prstGeom>
          <a:noFill/>
          <a:ln>
            <a:noFill/>
          </a:ln>
        </p:spPr>
      </p:pic>
      <p:sp>
        <p:nvSpPr>
          <p:cNvPr id="168" name="Google Shape;168;p28"/>
          <p:cNvSpPr txBox="1"/>
          <p:nvPr/>
        </p:nvSpPr>
        <p:spPr>
          <a:xfrm>
            <a:off x="161400" y="81250"/>
            <a:ext cx="8785200" cy="150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u="sng">
                <a:solidFill>
                  <a:srgbClr val="351C75"/>
                </a:solidFill>
              </a:rPr>
              <a:t>EEG alpha band functional connectivity reveals distinct cortical dynamics for overt and covert emotional face processing</a:t>
            </a:r>
            <a:endParaRPr b="1" u="sng">
              <a:solidFill>
                <a:srgbClr val="351C75"/>
              </a:solidFill>
            </a:endParaRPr>
          </a:p>
          <a:p>
            <a:pPr indent="0" lvl="0" marL="0" rtl="0" algn="l">
              <a:spcBef>
                <a:spcPts val="0"/>
              </a:spcBef>
              <a:spcAft>
                <a:spcPts val="0"/>
              </a:spcAft>
              <a:buNone/>
            </a:pPr>
            <a:r>
              <a:rPr b="1" lang="en" sz="1200" u="sng">
                <a:solidFill>
                  <a:schemeClr val="dk1"/>
                </a:solidFill>
              </a:rPr>
              <a:t>Quick Summary:</a:t>
            </a:r>
            <a:endParaRPr b="1" sz="1200" u="sng">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Overt: </a:t>
            </a:r>
            <a:r>
              <a:rPr b="1" lang="en" sz="1200">
                <a:solidFill>
                  <a:srgbClr val="CC0000"/>
                </a:solidFill>
              </a:rPr>
              <a:t>Worsen behavior performance </a:t>
            </a:r>
            <a:r>
              <a:rPr lang="en" sz="1200">
                <a:solidFill>
                  <a:schemeClr val="dk1"/>
                </a:solidFill>
              </a:rPr>
              <a:t>in </a:t>
            </a:r>
            <a:r>
              <a:rPr b="1" lang="en" sz="1200">
                <a:solidFill>
                  <a:srgbClr val="0B5394"/>
                </a:solidFill>
              </a:rPr>
              <a:t>Negative Expression</a:t>
            </a:r>
            <a:r>
              <a:rPr lang="en" sz="1200">
                <a:solidFill>
                  <a:schemeClr val="dk1"/>
                </a:solidFill>
              </a:rPr>
              <a:t> with </a:t>
            </a:r>
            <a:r>
              <a:rPr b="1" lang="en" sz="1200">
                <a:solidFill>
                  <a:srgbClr val="674EA7"/>
                </a:solidFill>
              </a:rPr>
              <a:t>Higher RE</a:t>
            </a:r>
            <a:r>
              <a:rPr lang="en" sz="1200">
                <a:solidFill>
                  <a:schemeClr val="dk1"/>
                </a:solidFill>
              </a:rPr>
              <a:t> -&gt; Enhanced response of subcortical structures (Amygdala) </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Covert: </a:t>
            </a:r>
            <a:r>
              <a:rPr b="1" lang="en" sz="1200">
                <a:solidFill>
                  <a:srgbClr val="666666"/>
                </a:solidFill>
              </a:rPr>
              <a:t>No behavior change</a:t>
            </a:r>
            <a:r>
              <a:rPr b="1" lang="en" sz="1200">
                <a:solidFill>
                  <a:srgbClr val="9E9E9E"/>
                </a:solidFill>
              </a:rPr>
              <a:t> </a:t>
            </a:r>
            <a:r>
              <a:rPr lang="en" sz="1200">
                <a:solidFill>
                  <a:schemeClr val="dk1"/>
                </a:solidFill>
              </a:rPr>
              <a:t>due to the </a:t>
            </a:r>
            <a:r>
              <a:rPr b="1" lang="en" sz="1200">
                <a:solidFill>
                  <a:srgbClr val="1155CC"/>
                </a:solidFill>
              </a:rPr>
              <a:t>color patch</a:t>
            </a:r>
            <a:r>
              <a:rPr lang="en" sz="1200">
                <a:solidFill>
                  <a:schemeClr val="dk1"/>
                </a:solidFill>
              </a:rPr>
              <a:t>, </a:t>
            </a:r>
            <a:r>
              <a:rPr b="1" lang="en" sz="1200">
                <a:solidFill>
                  <a:srgbClr val="674EA7"/>
                </a:solidFill>
              </a:rPr>
              <a:t>Higher RE </a:t>
            </a:r>
            <a:r>
              <a:rPr lang="en" sz="1200">
                <a:solidFill>
                  <a:schemeClr val="dk1"/>
                </a:solidFill>
              </a:rPr>
              <a:t>in </a:t>
            </a:r>
            <a:r>
              <a:rPr b="1" lang="en" sz="1200">
                <a:solidFill>
                  <a:srgbClr val="666666"/>
                </a:solidFill>
              </a:rPr>
              <a:t>Neutral Expression </a:t>
            </a:r>
            <a:r>
              <a:rPr lang="en" sz="1200">
                <a:solidFill>
                  <a:schemeClr val="dk1"/>
                </a:solidFill>
              </a:rPr>
              <a:t>-&gt; Harder to detect emotional face for brain</a:t>
            </a:r>
            <a:endParaRPr sz="1200">
              <a:solidFill>
                <a:schemeClr val="dk1"/>
              </a:solidFill>
            </a:endParaRPr>
          </a:p>
          <a:p>
            <a:pPr indent="0" lvl="0" marL="0" rtl="0" algn="l">
              <a:spcBef>
                <a:spcPts val="0"/>
              </a:spcBef>
              <a:spcAft>
                <a:spcPts val="0"/>
              </a:spcAft>
              <a:buNone/>
            </a:pPr>
            <a:r>
              <a:t/>
            </a:r>
            <a:endParaRPr b="1" sz="1200" u="sng"/>
          </a:p>
          <a:p>
            <a:pPr indent="0" lvl="0" marL="0" rtl="0" algn="l">
              <a:spcBef>
                <a:spcPts val="0"/>
              </a:spcBef>
              <a:spcAft>
                <a:spcPts val="0"/>
              </a:spcAft>
              <a:buNone/>
            </a:pPr>
            <a:r>
              <a:t/>
            </a:r>
            <a:endParaRPr sz="1200"/>
          </a:p>
          <a:p>
            <a:pPr indent="0" lvl="0" marL="457200" rtl="0" algn="l">
              <a:spcBef>
                <a:spcPts val="0"/>
              </a:spcBef>
              <a:spcAft>
                <a:spcPts val="0"/>
              </a:spcAft>
              <a:buNone/>
            </a:pPr>
            <a:r>
              <a:t/>
            </a:r>
            <a:endParaRPr b="1" sz="1200">
              <a:solidFill>
                <a:srgbClr val="990000"/>
              </a:solidFill>
            </a:endParaRPr>
          </a:p>
        </p:txBody>
      </p:sp>
      <p:pic>
        <p:nvPicPr>
          <p:cNvPr id="169" name="Google Shape;169;p28"/>
          <p:cNvPicPr preferRelativeResize="0"/>
          <p:nvPr/>
        </p:nvPicPr>
        <p:blipFill rotWithShape="1">
          <a:blip r:embed="rId4">
            <a:alphaModFix/>
          </a:blip>
          <a:srcRect b="0" l="2705" r="0" t="0"/>
          <a:stretch/>
        </p:blipFill>
        <p:spPr>
          <a:xfrm>
            <a:off x="2835587" y="1622050"/>
            <a:ext cx="2498275" cy="2596676"/>
          </a:xfrm>
          <a:prstGeom prst="rect">
            <a:avLst/>
          </a:prstGeom>
          <a:noFill/>
          <a:ln>
            <a:noFill/>
          </a:ln>
        </p:spPr>
      </p:pic>
      <p:sp>
        <p:nvSpPr>
          <p:cNvPr id="170" name="Google Shape;170;p28"/>
          <p:cNvSpPr txBox="1"/>
          <p:nvPr/>
        </p:nvSpPr>
        <p:spPr>
          <a:xfrm>
            <a:off x="53675" y="3241425"/>
            <a:ext cx="2589900" cy="99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rgbClr val="674EA7"/>
                </a:solidFill>
              </a:rPr>
              <a:t>Face Processing Network (FPN)</a:t>
            </a:r>
            <a:r>
              <a:rPr lang="en" sz="900"/>
              <a:t>, </a:t>
            </a:r>
            <a:r>
              <a:rPr lang="en" sz="900"/>
              <a:t>separated</a:t>
            </a:r>
            <a:r>
              <a:rPr lang="en" sz="900"/>
              <a:t> into 2 regions</a:t>
            </a:r>
            <a:endParaRPr sz="900"/>
          </a:p>
          <a:p>
            <a:pPr indent="-285750" lvl="0" marL="457200" rtl="0" algn="l">
              <a:spcBef>
                <a:spcPts val="0"/>
              </a:spcBef>
              <a:spcAft>
                <a:spcPts val="0"/>
              </a:spcAft>
              <a:buClr>
                <a:srgbClr val="CC0000"/>
              </a:buClr>
              <a:buSzPts val="900"/>
              <a:buChar char="●"/>
            </a:pPr>
            <a:r>
              <a:rPr b="1" lang="en" sz="900">
                <a:solidFill>
                  <a:srgbClr val="CC0000"/>
                </a:solidFill>
              </a:rPr>
              <a:t>Core - mainly </a:t>
            </a:r>
            <a:r>
              <a:rPr b="1" lang="en" sz="900">
                <a:solidFill>
                  <a:srgbClr val="CC0000"/>
                </a:solidFill>
              </a:rPr>
              <a:t>Occipital</a:t>
            </a:r>
            <a:r>
              <a:rPr b="1" lang="en" sz="900">
                <a:solidFill>
                  <a:srgbClr val="CC0000"/>
                </a:solidFill>
              </a:rPr>
              <a:t> + Temporal</a:t>
            </a:r>
            <a:endParaRPr b="1" sz="900">
              <a:solidFill>
                <a:srgbClr val="CC0000"/>
              </a:solidFill>
            </a:endParaRPr>
          </a:p>
          <a:p>
            <a:pPr indent="-285750" lvl="0" marL="457200" rtl="0" algn="l">
              <a:spcBef>
                <a:spcPts val="0"/>
              </a:spcBef>
              <a:spcAft>
                <a:spcPts val="0"/>
              </a:spcAft>
              <a:buClr>
                <a:srgbClr val="1155CC"/>
              </a:buClr>
              <a:buSzPts val="900"/>
              <a:buChar char="●"/>
            </a:pPr>
            <a:r>
              <a:rPr b="1" lang="en" sz="900">
                <a:solidFill>
                  <a:srgbClr val="1155CC"/>
                </a:solidFill>
              </a:rPr>
              <a:t>Extended - spread through Parietal, Temporal, Frontal</a:t>
            </a:r>
            <a:endParaRPr b="1" sz="900">
              <a:solidFill>
                <a:srgbClr val="1155CC"/>
              </a:solidFill>
            </a:endParaRPr>
          </a:p>
        </p:txBody>
      </p:sp>
      <p:grpSp>
        <p:nvGrpSpPr>
          <p:cNvPr id="171" name="Google Shape;171;p28"/>
          <p:cNvGrpSpPr/>
          <p:nvPr/>
        </p:nvGrpSpPr>
        <p:grpSpPr>
          <a:xfrm>
            <a:off x="5567972" y="1578484"/>
            <a:ext cx="2589750" cy="1503075"/>
            <a:chOff x="5741172" y="1872884"/>
            <a:chExt cx="2589750" cy="1503075"/>
          </a:xfrm>
        </p:grpSpPr>
        <p:pic>
          <p:nvPicPr>
            <p:cNvPr id="172" name="Google Shape;172;p28"/>
            <p:cNvPicPr preferRelativeResize="0"/>
            <p:nvPr/>
          </p:nvPicPr>
          <p:blipFill>
            <a:blip r:embed="rId5">
              <a:alphaModFix/>
            </a:blip>
            <a:stretch>
              <a:fillRect/>
            </a:stretch>
          </p:blipFill>
          <p:spPr>
            <a:xfrm>
              <a:off x="5741172" y="1872884"/>
              <a:ext cx="2589750" cy="1503075"/>
            </a:xfrm>
            <a:prstGeom prst="rect">
              <a:avLst/>
            </a:prstGeom>
            <a:noFill/>
            <a:ln>
              <a:noFill/>
            </a:ln>
          </p:spPr>
        </p:pic>
        <p:sp>
          <p:nvSpPr>
            <p:cNvPr id="173" name="Google Shape;173;p28"/>
            <p:cNvSpPr/>
            <p:nvPr/>
          </p:nvSpPr>
          <p:spPr>
            <a:xfrm>
              <a:off x="5839075" y="2331450"/>
              <a:ext cx="2430600" cy="183600"/>
            </a:xfrm>
            <a:prstGeom prst="rect">
              <a:avLst/>
            </a:prstGeom>
            <a:solidFill>
              <a:srgbClr val="D5A6BD">
                <a:alpha val="310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 name="Google Shape;174;p28"/>
            <p:cNvSpPr/>
            <p:nvPr/>
          </p:nvSpPr>
          <p:spPr>
            <a:xfrm>
              <a:off x="5839075" y="2905425"/>
              <a:ext cx="2430600" cy="183600"/>
            </a:xfrm>
            <a:prstGeom prst="rect">
              <a:avLst/>
            </a:prstGeom>
            <a:solidFill>
              <a:srgbClr val="D5A6BD">
                <a:alpha val="310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 name="Google Shape;175;p28"/>
            <p:cNvSpPr/>
            <p:nvPr/>
          </p:nvSpPr>
          <p:spPr>
            <a:xfrm>
              <a:off x="6839100" y="2532625"/>
              <a:ext cx="922500" cy="183600"/>
            </a:xfrm>
            <a:prstGeom prst="rect">
              <a:avLst/>
            </a:prstGeom>
            <a:solidFill>
              <a:srgbClr val="8464DC">
                <a:alpha val="310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 name="Google Shape;176;p28"/>
            <p:cNvSpPr/>
            <p:nvPr/>
          </p:nvSpPr>
          <p:spPr>
            <a:xfrm>
              <a:off x="6839100" y="3139425"/>
              <a:ext cx="922500" cy="183600"/>
            </a:xfrm>
            <a:prstGeom prst="rect">
              <a:avLst/>
            </a:prstGeom>
            <a:solidFill>
              <a:srgbClr val="8464DC">
                <a:alpha val="310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 name="Google Shape;177;p28"/>
            <p:cNvSpPr/>
            <p:nvPr/>
          </p:nvSpPr>
          <p:spPr>
            <a:xfrm>
              <a:off x="5839075" y="3139425"/>
              <a:ext cx="479100" cy="183600"/>
            </a:xfrm>
            <a:prstGeom prst="rect">
              <a:avLst/>
            </a:prstGeom>
            <a:solidFill>
              <a:srgbClr val="8464DC">
                <a:alpha val="310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 name="Google Shape;178;p28"/>
            <p:cNvSpPr/>
            <p:nvPr/>
          </p:nvSpPr>
          <p:spPr>
            <a:xfrm>
              <a:off x="5846925" y="2532625"/>
              <a:ext cx="479100" cy="183600"/>
            </a:xfrm>
            <a:prstGeom prst="rect">
              <a:avLst/>
            </a:prstGeom>
            <a:solidFill>
              <a:srgbClr val="8464DC">
                <a:alpha val="310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aphicFrame>
        <p:nvGraphicFramePr>
          <p:cNvPr id="179" name="Google Shape;179;p28"/>
          <p:cNvGraphicFramePr/>
          <p:nvPr/>
        </p:nvGraphicFramePr>
        <p:xfrm>
          <a:off x="229113" y="4192900"/>
          <a:ext cx="3000000" cy="3000000"/>
        </p:xfrm>
        <a:graphic>
          <a:graphicData uri="http://schemas.openxmlformats.org/drawingml/2006/table">
            <a:tbl>
              <a:tblPr>
                <a:noFill/>
                <a:tableStyleId>{D04C27B6-2128-4D3A-BD79-397917448CAA}</a:tableStyleId>
              </a:tblPr>
              <a:tblGrid>
                <a:gridCol w="1375625"/>
                <a:gridCol w="913225"/>
                <a:gridCol w="1943675"/>
                <a:gridCol w="1279550"/>
              </a:tblGrid>
              <a:tr h="252250">
                <a:tc gridSpan="2">
                  <a:txBody>
                    <a:bodyPr/>
                    <a:lstStyle/>
                    <a:p>
                      <a:pPr indent="0" lvl="0" marL="0" rtl="0" algn="l">
                        <a:spcBef>
                          <a:spcPts val="0"/>
                        </a:spcBef>
                        <a:spcAft>
                          <a:spcPts val="0"/>
                        </a:spcAft>
                        <a:buNone/>
                      </a:pPr>
                      <a:r>
                        <a:rPr lang="en" sz="1100">
                          <a:solidFill>
                            <a:schemeClr val="dk1"/>
                          </a:solidFill>
                        </a:rPr>
                        <a:t>1. Having subjects identify</a:t>
                      </a:r>
                      <a:endParaRPr sz="1200">
                        <a:solidFill>
                          <a:schemeClr val="dk1"/>
                        </a:solidFill>
                      </a:endParaRPr>
                    </a:p>
                    <a:p>
                      <a:pPr indent="-292100" lvl="0" marL="457200" rtl="0" algn="l">
                        <a:spcBef>
                          <a:spcPts val="0"/>
                        </a:spcBef>
                        <a:spcAft>
                          <a:spcPts val="0"/>
                        </a:spcAft>
                        <a:buSzPts val="1000"/>
                        <a:buChar char="-"/>
                      </a:pPr>
                      <a:r>
                        <a:rPr b="1" lang="en" sz="1000">
                          <a:solidFill>
                            <a:srgbClr val="CC0000"/>
                          </a:solidFill>
                        </a:rPr>
                        <a:t>Facial Expression</a:t>
                      </a:r>
                      <a:r>
                        <a:rPr lang="en" sz="1000">
                          <a:solidFill>
                            <a:schemeClr val="dk1"/>
                          </a:solidFill>
                        </a:rPr>
                        <a:t> (Overt)</a:t>
                      </a:r>
                      <a:endParaRPr sz="1000">
                        <a:solidFill>
                          <a:schemeClr val="dk1"/>
                        </a:solidFill>
                      </a:endParaRPr>
                    </a:p>
                    <a:p>
                      <a:pPr indent="-292100" lvl="0" marL="457200" rtl="0" algn="l">
                        <a:spcBef>
                          <a:spcPts val="0"/>
                        </a:spcBef>
                        <a:spcAft>
                          <a:spcPts val="0"/>
                        </a:spcAft>
                        <a:buSzPts val="1000"/>
                        <a:buChar char="-"/>
                      </a:pPr>
                      <a:r>
                        <a:rPr b="1" lang="en" sz="1000">
                          <a:solidFill>
                            <a:srgbClr val="1155CC"/>
                          </a:solidFill>
                        </a:rPr>
                        <a:t>Color patch</a:t>
                      </a:r>
                      <a:r>
                        <a:rPr lang="en" sz="1000">
                          <a:solidFill>
                            <a:schemeClr val="dk1"/>
                          </a:solidFill>
                        </a:rPr>
                        <a:t> on </a:t>
                      </a:r>
                      <a:br>
                        <a:rPr lang="en" sz="1000">
                          <a:solidFill>
                            <a:schemeClr val="dk1"/>
                          </a:solidFill>
                        </a:rPr>
                      </a:br>
                      <a:r>
                        <a:rPr b="1" lang="en" sz="1000">
                          <a:solidFill>
                            <a:srgbClr val="CC0000"/>
                          </a:solidFill>
                        </a:rPr>
                        <a:t>Facial Expression</a:t>
                      </a:r>
                      <a:r>
                        <a:rPr lang="en" sz="1000">
                          <a:solidFill>
                            <a:schemeClr val="dk1"/>
                          </a:solidFill>
                        </a:rPr>
                        <a:t> (Covert)</a:t>
                      </a:r>
                      <a:endParaRPr sz="900">
                        <a:solidFill>
                          <a:schemeClr val="dk1"/>
                        </a:solidFill>
                      </a:endParaRPr>
                    </a:p>
                  </a:txBody>
                  <a:tcPr marT="91425" marB="91425" marR="91425" marL="91425" anchor="ctr"/>
                </a:tc>
                <a:tc hMerge="1"/>
                <a:tc>
                  <a:txBody>
                    <a:bodyPr/>
                    <a:lstStyle/>
                    <a:p>
                      <a:pPr indent="0" lvl="0" marL="0" rtl="0" algn="ctr">
                        <a:spcBef>
                          <a:spcPts val="0"/>
                        </a:spcBef>
                        <a:spcAft>
                          <a:spcPts val="0"/>
                        </a:spcAft>
                        <a:buNone/>
                      </a:pPr>
                      <a:r>
                        <a:rPr lang="en" sz="1100">
                          <a:solidFill>
                            <a:srgbClr val="351C75"/>
                          </a:solidFill>
                        </a:rPr>
                        <a:t>2. </a:t>
                      </a:r>
                      <a:r>
                        <a:rPr b="1" lang="en" sz="1100">
                          <a:solidFill>
                            <a:srgbClr val="674EA7"/>
                          </a:solidFill>
                        </a:rPr>
                        <a:t>Source modeling</a:t>
                      </a:r>
                      <a:r>
                        <a:rPr lang="en" sz="1100">
                          <a:solidFill>
                            <a:srgbClr val="674EA7"/>
                          </a:solidFill>
                        </a:rPr>
                        <a:t> </a:t>
                      </a:r>
                      <a:r>
                        <a:rPr lang="en" sz="1100">
                          <a:solidFill>
                            <a:schemeClr val="dk1"/>
                          </a:solidFill>
                        </a:rPr>
                        <a:t>using </a:t>
                      </a:r>
                      <a:r>
                        <a:rPr b="1" lang="en" sz="1100">
                          <a:solidFill>
                            <a:srgbClr val="674EA7"/>
                          </a:solidFill>
                        </a:rPr>
                        <a:t>BEM (MATLAB)</a:t>
                      </a:r>
                      <a:r>
                        <a:rPr lang="en" sz="1100">
                          <a:solidFill>
                            <a:schemeClr val="dk1"/>
                          </a:solidFill>
                        </a:rPr>
                        <a:t>, and </a:t>
                      </a:r>
                      <a:r>
                        <a:rPr b="1" lang="en" sz="1100">
                          <a:solidFill>
                            <a:srgbClr val="674EA7"/>
                          </a:solidFill>
                        </a:rPr>
                        <a:t>Phase Locking Value</a:t>
                      </a:r>
                      <a:r>
                        <a:rPr lang="en" sz="1100">
                          <a:solidFill>
                            <a:srgbClr val="674EA7"/>
                          </a:solidFill>
                        </a:rPr>
                        <a:t> </a:t>
                      </a:r>
                      <a:r>
                        <a:rPr lang="en" sz="1100">
                          <a:solidFill>
                            <a:schemeClr val="dk1"/>
                          </a:solidFill>
                        </a:rPr>
                        <a:t>for the </a:t>
                      </a:r>
                      <a:r>
                        <a:rPr b="1" lang="en" sz="1100">
                          <a:solidFill>
                            <a:srgbClr val="674EA7"/>
                          </a:solidFill>
                        </a:rPr>
                        <a:t>Brain Network</a:t>
                      </a:r>
                      <a:endParaRPr sz="800">
                        <a:solidFill>
                          <a:srgbClr val="674EA7"/>
                        </a:solidFill>
                      </a:endParaRPr>
                    </a:p>
                  </a:txBody>
                  <a:tcPr marT="91425" marB="91425" marR="91425" marL="91425" anchor="ctr"/>
                </a:tc>
                <a:tc>
                  <a:txBody>
                    <a:bodyPr/>
                    <a:lstStyle/>
                    <a:p>
                      <a:pPr indent="0" lvl="0" marL="0" rtl="0" algn="ctr">
                        <a:spcBef>
                          <a:spcPts val="0"/>
                        </a:spcBef>
                        <a:spcAft>
                          <a:spcPts val="0"/>
                        </a:spcAft>
                        <a:buNone/>
                      </a:pPr>
                      <a:r>
                        <a:rPr lang="en" sz="1100">
                          <a:solidFill>
                            <a:srgbClr val="351C75"/>
                          </a:solidFill>
                        </a:rPr>
                        <a:t>3. </a:t>
                      </a:r>
                      <a:r>
                        <a:rPr lang="en" sz="1100">
                          <a:solidFill>
                            <a:srgbClr val="351C75"/>
                          </a:solidFill>
                        </a:rPr>
                        <a:t>Calculating </a:t>
                      </a:r>
                      <a:r>
                        <a:rPr b="1" lang="en" sz="1100">
                          <a:solidFill>
                            <a:srgbClr val="351C75"/>
                          </a:solidFill>
                        </a:rPr>
                        <a:t>RE</a:t>
                      </a:r>
                      <a:r>
                        <a:rPr lang="en" sz="1100">
                          <a:solidFill>
                            <a:srgbClr val="351C75"/>
                          </a:solidFill>
                        </a:rPr>
                        <a:t> from </a:t>
                      </a:r>
                      <a:r>
                        <a:rPr b="1" lang="en" sz="1100">
                          <a:solidFill>
                            <a:srgbClr val="CC0000"/>
                          </a:solidFill>
                        </a:rPr>
                        <a:t>Core </a:t>
                      </a:r>
                      <a:r>
                        <a:rPr lang="en" sz="1100">
                          <a:solidFill>
                            <a:srgbClr val="351C75"/>
                          </a:solidFill>
                        </a:rPr>
                        <a:t>to </a:t>
                      </a:r>
                      <a:r>
                        <a:rPr b="1" lang="en" sz="1100">
                          <a:solidFill>
                            <a:srgbClr val="1155CC"/>
                          </a:solidFill>
                        </a:rPr>
                        <a:t>Extended</a:t>
                      </a:r>
                      <a:r>
                        <a:rPr lang="en" sz="1100">
                          <a:solidFill>
                            <a:srgbClr val="351C75"/>
                          </a:solidFill>
                        </a:rPr>
                        <a:t> region</a:t>
                      </a:r>
                      <a:endParaRPr sz="1100">
                        <a:solidFill>
                          <a:srgbClr val="A64D79"/>
                        </a:solidFill>
                      </a:endParaRPr>
                    </a:p>
                  </a:txBody>
                  <a:tcPr marT="91425" marB="91425" marR="91425" marL="91425" anchor="ctr"/>
                </a:tc>
              </a:tr>
            </a:tbl>
          </a:graphicData>
        </a:graphic>
      </p:graphicFrame>
      <p:sp>
        <p:nvSpPr>
          <p:cNvPr id="180" name="Google Shape;180;p28"/>
          <p:cNvSpPr/>
          <p:nvPr/>
        </p:nvSpPr>
        <p:spPr>
          <a:xfrm>
            <a:off x="163850" y="1617050"/>
            <a:ext cx="310200" cy="281100"/>
          </a:xfrm>
          <a:prstGeom prst="ellipse">
            <a:avLst/>
          </a:prstGeom>
          <a:no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351C75"/>
                </a:solidFill>
              </a:rPr>
              <a:t>2</a:t>
            </a:r>
            <a:endParaRPr b="1" sz="1000">
              <a:solidFill>
                <a:srgbClr val="351C75"/>
              </a:solidFill>
            </a:endParaRPr>
          </a:p>
        </p:txBody>
      </p:sp>
      <p:sp>
        <p:nvSpPr>
          <p:cNvPr id="181" name="Google Shape;181;p28"/>
          <p:cNvSpPr/>
          <p:nvPr/>
        </p:nvSpPr>
        <p:spPr>
          <a:xfrm>
            <a:off x="2766775" y="1617050"/>
            <a:ext cx="310200" cy="281100"/>
          </a:xfrm>
          <a:prstGeom prst="ellipse">
            <a:avLst/>
          </a:prstGeom>
          <a:no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351C75"/>
                </a:solidFill>
              </a:rPr>
              <a:t>3</a:t>
            </a:r>
            <a:endParaRPr b="1" sz="1000">
              <a:solidFill>
                <a:srgbClr val="351C75"/>
              </a:solidFill>
            </a:endParaRPr>
          </a:p>
        </p:txBody>
      </p:sp>
      <p:sp>
        <p:nvSpPr>
          <p:cNvPr id="182" name="Google Shape;182;p28"/>
          <p:cNvSpPr txBox="1"/>
          <p:nvPr/>
        </p:nvSpPr>
        <p:spPr>
          <a:xfrm>
            <a:off x="5846925" y="3462850"/>
            <a:ext cx="3105000" cy="138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t>Take away:</a:t>
            </a:r>
            <a:endParaRPr sz="1200"/>
          </a:p>
          <a:p>
            <a:pPr indent="-304800" lvl="0" marL="457200" rtl="0" algn="l">
              <a:spcBef>
                <a:spcPts val="0"/>
              </a:spcBef>
              <a:spcAft>
                <a:spcPts val="0"/>
              </a:spcAft>
              <a:buSzPts val="1200"/>
              <a:buAutoNum type="arabicPeriod"/>
            </a:pPr>
            <a:r>
              <a:rPr lang="en" sz="1200"/>
              <a:t>This work claimed Amygdala as the reason while RE increased in Overt, Negative Emotion. (We might do the same with Basal Ganglia?)</a:t>
            </a:r>
            <a:endParaRPr sz="1200"/>
          </a:p>
        </p:txBody>
      </p:sp>
      <p:sp>
        <p:nvSpPr>
          <p:cNvPr id="183" name="Google Shape;183;p28"/>
          <p:cNvSpPr/>
          <p:nvPr/>
        </p:nvSpPr>
        <p:spPr>
          <a:xfrm>
            <a:off x="3539150" y="788700"/>
            <a:ext cx="2662500" cy="183600"/>
          </a:xfrm>
          <a:prstGeom prst="rect">
            <a:avLst/>
          </a:prstGeom>
          <a:solidFill>
            <a:srgbClr val="8464DC">
              <a:alpha val="310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 name="Google Shape;184;p28"/>
          <p:cNvSpPr/>
          <p:nvPr/>
        </p:nvSpPr>
        <p:spPr>
          <a:xfrm>
            <a:off x="4263050" y="3001950"/>
            <a:ext cx="501300" cy="621000"/>
          </a:xfrm>
          <a:prstGeom prst="rect">
            <a:avLst/>
          </a:prstGeom>
          <a:solidFill>
            <a:srgbClr val="8464DC">
              <a:alpha val="310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 name="Google Shape;185;p28"/>
          <p:cNvSpPr/>
          <p:nvPr/>
        </p:nvSpPr>
        <p:spPr>
          <a:xfrm>
            <a:off x="3653500" y="3081550"/>
            <a:ext cx="253500" cy="421800"/>
          </a:xfrm>
          <a:prstGeom prst="rect">
            <a:avLst/>
          </a:prstGeom>
          <a:solidFill>
            <a:srgbClr val="D5A6BD">
              <a:alpha val="310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 name="Google Shape;186;p28"/>
          <p:cNvSpPr/>
          <p:nvPr/>
        </p:nvSpPr>
        <p:spPr>
          <a:xfrm>
            <a:off x="4318500" y="1091150"/>
            <a:ext cx="2430600" cy="281100"/>
          </a:xfrm>
          <a:prstGeom prst="rect">
            <a:avLst/>
          </a:prstGeom>
          <a:solidFill>
            <a:srgbClr val="D5A6BD">
              <a:alpha val="310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 name="Google Shape;187;p28"/>
          <p:cNvSpPr/>
          <p:nvPr/>
        </p:nvSpPr>
        <p:spPr>
          <a:xfrm>
            <a:off x="1222900" y="1148200"/>
            <a:ext cx="1543800" cy="224100"/>
          </a:xfrm>
          <a:prstGeom prst="rect">
            <a:avLst/>
          </a:prstGeom>
          <a:solidFill>
            <a:srgbClr val="D5A6BD">
              <a:alpha val="310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 name="Google Shape;188;p28"/>
          <p:cNvSpPr/>
          <p:nvPr/>
        </p:nvSpPr>
        <p:spPr>
          <a:xfrm>
            <a:off x="1141675" y="788700"/>
            <a:ext cx="2237400" cy="183600"/>
          </a:xfrm>
          <a:prstGeom prst="rect">
            <a:avLst/>
          </a:prstGeom>
          <a:solidFill>
            <a:srgbClr val="8464DC">
              <a:alpha val="310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 name="Google Shape;189;p28"/>
          <p:cNvSpPr/>
          <p:nvPr/>
        </p:nvSpPr>
        <p:spPr>
          <a:xfrm>
            <a:off x="3490975" y="1682850"/>
            <a:ext cx="383400" cy="156000"/>
          </a:xfrm>
          <a:prstGeom prst="rect">
            <a:avLst/>
          </a:prstGeom>
          <a:solidFill>
            <a:srgbClr val="D5A6BD">
              <a:alpha val="310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 name="Google Shape;190;p28"/>
          <p:cNvSpPr/>
          <p:nvPr/>
        </p:nvSpPr>
        <p:spPr>
          <a:xfrm>
            <a:off x="710425" y="1153700"/>
            <a:ext cx="460200" cy="183600"/>
          </a:xfrm>
          <a:prstGeom prst="rect">
            <a:avLst/>
          </a:prstGeom>
          <a:solidFill>
            <a:srgbClr val="D5A6BD">
              <a:alpha val="310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 name="Google Shape;191;p28"/>
          <p:cNvSpPr/>
          <p:nvPr/>
        </p:nvSpPr>
        <p:spPr>
          <a:xfrm>
            <a:off x="4572000" y="1655325"/>
            <a:ext cx="383400" cy="183600"/>
          </a:xfrm>
          <a:prstGeom prst="rect">
            <a:avLst/>
          </a:prstGeom>
          <a:solidFill>
            <a:srgbClr val="8464DC">
              <a:alpha val="310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 name="Google Shape;192;p28"/>
          <p:cNvSpPr/>
          <p:nvPr/>
        </p:nvSpPr>
        <p:spPr>
          <a:xfrm>
            <a:off x="710425" y="788700"/>
            <a:ext cx="383400" cy="183600"/>
          </a:xfrm>
          <a:prstGeom prst="rect">
            <a:avLst/>
          </a:prstGeom>
          <a:solidFill>
            <a:srgbClr val="8464DC">
              <a:alpha val="310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 name="Google Shape;193;p28"/>
          <p:cNvSpPr/>
          <p:nvPr/>
        </p:nvSpPr>
        <p:spPr>
          <a:xfrm>
            <a:off x="686500" y="4441900"/>
            <a:ext cx="1644000" cy="183600"/>
          </a:xfrm>
          <a:prstGeom prst="rect">
            <a:avLst/>
          </a:prstGeom>
          <a:solidFill>
            <a:srgbClr val="8464DC">
              <a:alpha val="310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 name="Google Shape;194;p28"/>
          <p:cNvSpPr/>
          <p:nvPr/>
        </p:nvSpPr>
        <p:spPr>
          <a:xfrm>
            <a:off x="686500" y="4625500"/>
            <a:ext cx="1752600" cy="315900"/>
          </a:xfrm>
          <a:prstGeom prst="rect">
            <a:avLst/>
          </a:prstGeom>
          <a:solidFill>
            <a:srgbClr val="D5A6BD">
              <a:alpha val="310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9"/>
          <p:cNvSpPr txBox="1"/>
          <p:nvPr/>
        </p:nvSpPr>
        <p:spPr>
          <a:xfrm>
            <a:off x="161400" y="81250"/>
            <a:ext cx="7889700" cy="138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u="sng">
                <a:solidFill>
                  <a:srgbClr val="351C75"/>
                </a:solidFill>
              </a:rPr>
              <a:t>Surprise disrupts cognition via a fronto-basal ganglia suppressive mechanism</a:t>
            </a:r>
            <a:endParaRPr b="1" u="sng">
              <a:solidFill>
                <a:srgbClr val="351C75"/>
              </a:solidFill>
            </a:endParaRPr>
          </a:p>
          <a:p>
            <a:pPr indent="0" lvl="0" marL="0" rtl="0" algn="l">
              <a:spcBef>
                <a:spcPts val="0"/>
              </a:spcBef>
              <a:spcAft>
                <a:spcPts val="0"/>
              </a:spcAft>
              <a:buNone/>
            </a:pPr>
            <a:r>
              <a:rPr b="1" lang="en" sz="1200" u="sng"/>
              <a:t>Quick Summary</a:t>
            </a:r>
            <a:r>
              <a:rPr b="1" lang="en" sz="1200" u="sng"/>
              <a:t>:</a:t>
            </a:r>
            <a:endParaRPr b="1" sz="1200" u="sng"/>
          </a:p>
          <a:p>
            <a:pPr indent="-304800" lvl="0" marL="457200" rtl="0" algn="l">
              <a:spcBef>
                <a:spcPts val="0"/>
              </a:spcBef>
              <a:spcAft>
                <a:spcPts val="0"/>
              </a:spcAft>
              <a:buSzPts val="1200"/>
              <a:buChar char="-"/>
            </a:pPr>
            <a:r>
              <a:rPr lang="en" sz="1200"/>
              <a:t>Subthalamic nucleus (STN) increase activity in post surprising event resulting in inhibition of working memory process, suggesting that a chain of surprising event activate motor suppression-independent component</a:t>
            </a:r>
            <a:endParaRPr sz="1200"/>
          </a:p>
        </p:txBody>
      </p:sp>
      <p:graphicFrame>
        <p:nvGraphicFramePr>
          <p:cNvPr id="200" name="Google Shape;200;p29"/>
          <p:cNvGraphicFramePr/>
          <p:nvPr/>
        </p:nvGraphicFramePr>
        <p:xfrm>
          <a:off x="154375" y="3738575"/>
          <a:ext cx="3000000" cy="3000000"/>
        </p:xfrm>
        <a:graphic>
          <a:graphicData uri="http://schemas.openxmlformats.org/drawingml/2006/table">
            <a:tbl>
              <a:tblPr>
                <a:noFill/>
                <a:tableStyleId>{D04C27B6-2128-4D3A-BD79-397917448CAA}</a:tableStyleId>
              </a:tblPr>
              <a:tblGrid>
                <a:gridCol w="1599600"/>
                <a:gridCol w="942775"/>
                <a:gridCol w="1861700"/>
                <a:gridCol w="2005425"/>
                <a:gridCol w="2425725"/>
              </a:tblGrid>
              <a:tr h="652425">
                <a:tc gridSpan="2">
                  <a:txBody>
                    <a:bodyPr/>
                    <a:lstStyle/>
                    <a:p>
                      <a:pPr indent="0" lvl="0" marL="0" rtl="0" algn="l">
                        <a:spcBef>
                          <a:spcPts val="0"/>
                        </a:spcBef>
                        <a:spcAft>
                          <a:spcPts val="0"/>
                        </a:spcAft>
                        <a:buNone/>
                      </a:pPr>
                      <a:r>
                        <a:rPr lang="en" sz="1100">
                          <a:solidFill>
                            <a:schemeClr val="dk1"/>
                          </a:solidFill>
                        </a:rPr>
                        <a:t>1.1a Record EEG from</a:t>
                      </a:r>
                      <a:endParaRPr sz="1100">
                        <a:solidFill>
                          <a:schemeClr val="dk1"/>
                        </a:solidFill>
                      </a:endParaRPr>
                    </a:p>
                    <a:p>
                      <a:pPr indent="0" lvl="0" marL="0" rtl="0" algn="l">
                        <a:spcBef>
                          <a:spcPts val="0"/>
                        </a:spcBef>
                        <a:spcAft>
                          <a:spcPts val="0"/>
                        </a:spcAft>
                        <a:buNone/>
                      </a:pPr>
                      <a:r>
                        <a:rPr lang="en" sz="1100">
                          <a:solidFill>
                            <a:schemeClr val="dk1"/>
                          </a:solidFill>
                        </a:rPr>
                        <a:t>- </a:t>
                      </a:r>
                      <a:r>
                        <a:rPr lang="en" sz="1100">
                          <a:solidFill>
                            <a:schemeClr val="dk1"/>
                          </a:solidFill>
                        </a:rPr>
                        <a:t>WM Task (distracted by bird sound)</a:t>
                      </a:r>
                      <a:endParaRPr sz="1100">
                        <a:solidFill>
                          <a:schemeClr val="dk1"/>
                        </a:solidFill>
                      </a:endParaRPr>
                    </a:p>
                    <a:p>
                      <a:pPr indent="0" lvl="0" marL="0" rtl="0" algn="l">
                        <a:spcBef>
                          <a:spcPts val="0"/>
                        </a:spcBef>
                        <a:spcAft>
                          <a:spcPts val="0"/>
                        </a:spcAft>
                        <a:buNone/>
                      </a:pPr>
                      <a:r>
                        <a:rPr lang="en" sz="1100">
                          <a:solidFill>
                            <a:schemeClr val="dk1"/>
                          </a:solidFill>
                        </a:rPr>
                        <a:t>- Stop Signal Task ()</a:t>
                      </a:r>
                      <a:endParaRPr sz="1100">
                        <a:solidFill>
                          <a:schemeClr val="dk1"/>
                        </a:solidFill>
                      </a:endParaRPr>
                    </a:p>
                  </a:txBody>
                  <a:tcPr marT="91425" marB="91425" marR="91425" marL="91425" anchor="ctr">
                    <a:lnB cap="flat" cmpd="sng" w="9525">
                      <a:solidFill>
                        <a:srgbClr val="9E9E9E"/>
                      </a:solidFill>
                      <a:prstDash val="solid"/>
                      <a:round/>
                      <a:headEnd len="sm" w="sm" type="none"/>
                      <a:tailEnd len="sm" w="sm" type="none"/>
                    </a:lnB>
                  </a:tcPr>
                </a:tc>
                <a:tc hMerge="1"/>
                <a:tc>
                  <a:txBody>
                    <a:bodyPr/>
                    <a:lstStyle/>
                    <a:p>
                      <a:pPr indent="0" lvl="0" marL="0" rtl="0" algn="ctr">
                        <a:spcBef>
                          <a:spcPts val="0"/>
                        </a:spcBef>
                        <a:spcAft>
                          <a:spcPts val="0"/>
                        </a:spcAft>
                        <a:buNone/>
                      </a:pPr>
                      <a:r>
                        <a:rPr lang="en" sz="1100">
                          <a:solidFill>
                            <a:srgbClr val="351C75"/>
                          </a:solidFill>
                        </a:rPr>
                        <a:t>1</a:t>
                      </a:r>
                      <a:r>
                        <a:rPr lang="en" sz="1100">
                          <a:solidFill>
                            <a:srgbClr val="351C75"/>
                          </a:solidFill>
                        </a:rPr>
                        <a:t>.2a Getting Motor Suppression via ICA (MS-IC)</a:t>
                      </a:r>
                      <a:endParaRPr sz="800">
                        <a:solidFill>
                          <a:srgbClr val="351C75"/>
                        </a:solidFill>
                      </a:endParaRPr>
                    </a:p>
                  </a:txBody>
                  <a:tcPr marT="91425" marB="91425" marR="91425" marL="91425" anchor="ctr">
                    <a:lnB cap="flat" cmpd="sng" w="9525">
                      <a:solidFill>
                        <a:srgbClr val="9E9E9E"/>
                      </a:solidFill>
                      <a:prstDash val="solid"/>
                      <a:round/>
                      <a:headEnd len="sm" w="sm" type="none"/>
                      <a:tailEnd len="sm" w="sm" type="none"/>
                    </a:lnB>
                  </a:tcPr>
                </a:tc>
                <a:tc rowSpan="2">
                  <a:txBody>
                    <a:bodyPr/>
                    <a:lstStyle/>
                    <a:p>
                      <a:pPr indent="0" lvl="0" marL="0" rtl="0" algn="ctr">
                        <a:spcBef>
                          <a:spcPts val="0"/>
                        </a:spcBef>
                        <a:spcAft>
                          <a:spcPts val="0"/>
                        </a:spcAft>
                        <a:buNone/>
                      </a:pPr>
                      <a:r>
                        <a:rPr lang="en" sz="1100">
                          <a:solidFill>
                            <a:srgbClr val="351C75"/>
                          </a:solidFill>
                        </a:rPr>
                        <a:t>2</a:t>
                      </a:r>
                      <a:r>
                        <a:rPr lang="en" sz="1100">
                          <a:solidFill>
                            <a:srgbClr val="351C75"/>
                          </a:solidFill>
                        </a:rPr>
                        <a:t>.</a:t>
                      </a:r>
                      <a:r>
                        <a:rPr lang="en" sz="1100">
                          <a:solidFill>
                            <a:srgbClr val="351C75"/>
                          </a:solidFill>
                        </a:rPr>
                        <a:t> Comparing Spectral Power in SURPRISE vs STANDARD</a:t>
                      </a:r>
                      <a:endParaRPr sz="1100">
                        <a:solidFill>
                          <a:srgbClr val="A64D79"/>
                        </a:solidFill>
                      </a:endParaRPr>
                    </a:p>
                  </a:txBody>
                  <a:tcPr marT="91425" marB="91425" marR="91425" marL="91425" anchor="ctr">
                    <a:lnB cap="flat" cmpd="sng" w="9525">
                      <a:solidFill>
                        <a:srgbClr val="9E9E9E"/>
                      </a:solidFill>
                      <a:prstDash val="solid"/>
                      <a:round/>
                      <a:headEnd len="sm" w="sm" type="none"/>
                      <a:tailEnd len="sm" w="sm" type="none"/>
                    </a:lnB>
                  </a:tcPr>
                </a:tc>
                <a:tc rowSpan="2">
                  <a:txBody>
                    <a:bodyPr/>
                    <a:lstStyle/>
                    <a:p>
                      <a:pPr indent="0" lvl="0" marL="0" rtl="0" algn="ctr">
                        <a:spcBef>
                          <a:spcPts val="0"/>
                        </a:spcBef>
                        <a:spcAft>
                          <a:spcPts val="0"/>
                        </a:spcAft>
                        <a:buNone/>
                      </a:pPr>
                      <a:r>
                        <a:rPr lang="en" sz="1100">
                          <a:solidFill>
                            <a:srgbClr val="351C75"/>
                          </a:solidFill>
                        </a:rPr>
                        <a:t>3. Test the hypothesis : Significant spectral power difference between SURPRISE vs STANDARD</a:t>
                      </a:r>
                      <a:endParaRPr sz="1100">
                        <a:solidFill>
                          <a:srgbClr val="351C75"/>
                        </a:solidFill>
                      </a:endParaRPr>
                    </a:p>
                  </a:txBody>
                  <a:tcPr marT="91425" marB="91425" marR="91425" marL="91425" anchor="ctr">
                    <a:lnB cap="flat" cmpd="sng" w="9525">
                      <a:solidFill>
                        <a:srgbClr val="9E9E9E"/>
                      </a:solidFill>
                      <a:prstDash val="solid"/>
                      <a:round/>
                      <a:headEnd len="sm" w="sm" type="none"/>
                      <a:tailEnd len="sm" w="sm" type="none"/>
                    </a:lnB>
                  </a:tcPr>
                </a:tc>
              </a:tr>
              <a:tr h="281150">
                <a:tc gridSpan="3">
                  <a:txBody>
                    <a:bodyPr/>
                    <a:lstStyle/>
                    <a:p>
                      <a:pPr indent="0" lvl="0" marL="0" rtl="0" algn="ctr">
                        <a:spcBef>
                          <a:spcPts val="0"/>
                        </a:spcBef>
                        <a:spcAft>
                          <a:spcPts val="0"/>
                        </a:spcAft>
                        <a:buNone/>
                      </a:pPr>
                      <a:r>
                        <a:rPr lang="en" sz="1100">
                          <a:solidFill>
                            <a:schemeClr val="dk1"/>
                          </a:solidFill>
                        </a:rPr>
                        <a:t>1b. </a:t>
                      </a:r>
                      <a:r>
                        <a:rPr lang="en" sz="1100">
                          <a:solidFill>
                            <a:schemeClr val="dk1"/>
                          </a:solidFill>
                        </a:rPr>
                        <a:t>Record activities in STN using LFP</a:t>
                      </a:r>
                      <a:endParaRPr sz="1100">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hMerge="1"/>
                <a:tc hMerge="1"/>
                <a:tc vMerge="1"/>
                <a:tc vMerge="1"/>
              </a:tr>
            </a:tbl>
          </a:graphicData>
        </a:graphic>
      </p:graphicFrame>
      <p:pic>
        <p:nvPicPr>
          <p:cNvPr id="201" name="Google Shape;201;p29"/>
          <p:cNvPicPr preferRelativeResize="0"/>
          <p:nvPr/>
        </p:nvPicPr>
        <p:blipFill>
          <a:blip r:embed="rId3">
            <a:alphaModFix/>
          </a:blip>
          <a:stretch>
            <a:fillRect/>
          </a:stretch>
        </p:blipFill>
        <p:spPr>
          <a:xfrm>
            <a:off x="272850" y="1123825"/>
            <a:ext cx="3334530" cy="2418450"/>
          </a:xfrm>
          <a:prstGeom prst="rect">
            <a:avLst/>
          </a:prstGeom>
          <a:noFill/>
          <a:ln>
            <a:noFill/>
          </a:ln>
        </p:spPr>
      </p:pic>
      <p:pic>
        <p:nvPicPr>
          <p:cNvPr id="202" name="Google Shape;202;p29"/>
          <p:cNvPicPr preferRelativeResize="0"/>
          <p:nvPr/>
        </p:nvPicPr>
        <p:blipFill rotWithShape="1">
          <a:blip r:embed="rId4">
            <a:alphaModFix/>
          </a:blip>
          <a:srcRect b="0" l="0" r="49711" t="0"/>
          <a:stretch/>
        </p:blipFill>
        <p:spPr>
          <a:xfrm>
            <a:off x="7348001" y="1123825"/>
            <a:ext cx="1707925" cy="1190975"/>
          </a:xfrm>
          <a:prstGeom prst="rect">
            <a:avLst/>
          </a:prstGeom>
          <a:noFill/>
          <a:ln>
            <a:noFill/>
          </a:ln>
        </p:spPr>
      </p:pic>
      <p:sp>
        <p:nvSpPr>
          <p:cNvPr id="203" name="Google Shape;203;p29"/>
          <p:cNvSpPr txBox="1"/>
          <p:nvPr/>
        </p:nvSpPr>
        <p:spPr>
          <a:xfrm>
            <a:off x="3940500" y="2192450"/>
            <a:ext cx="4969200" cy="119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0B5394"/>
                </a:solidFill>
              </a:rPr>
              <a:t>Take away:</a:t>
            </a:r>
            <a:endParaRPr b="1" sz="1200">
              <a:solidFill>
                <a:srgbClr val="0B5394"/>
              </a:solidFill>
            </a:endParaRPr>
          </a:p>
          <a:p>
            <a:pPr indent="-304800" lvl="0" marL="457200" rtl="0" algn="l">
              <a:spcBef>
                <a:spcPts val="0"/>
              </a:spcBef>
              <a:spcAft>
                <a:spcPts val="0"/>
              </a:spcAft>
              <a:buSzPts val="1200"/>
              <a:buAutoNum type="arabicPeriod"/>
            </a:pPr>
            <a:r>
              <a:rPr lang="en" sz="1200"/>
              <a:t>This work found </a:t>
            </a:r>
            <a:r>
              <a:rPr lang="en" sz="1200"/>
              <a:t>increasing activity of STN in surprising event using scalp-EEG and LFP (can we suggest that the significant area activated is refer to be STN?)</a:t>
            </a:r>
            <a:endParaRPr sz="1200"/>
          </a:p>
          <a:p>
            <a:pPr indent="-304800" lvl="0" marL="457200" rtl="0" algn="l">
              <a:spcBef>
                <a:spcPts val="0"/>
              </a:spcBef>
              <a:spcAft>
                <a:spcPts val="0"/>
              </a:spcAft>
              <a:buSzPts val="1200"/>
              <a:buAutoNum type="arabicPeriod"/>
            </a:pPr>
            <a:r>
              <a:rPr lang="en" sz="1200"/>
              <a:t>Beta band signals also has a role in motor suppression and WM failure in surprising events</a:t>
            </a:r>
            <a:endParaRPr sz="1200"/>
          </a:p>
        </p:txBody>
      </p:sp>
      <p:pic>
        <p:nvPicPr>
          <p:cNvPr id="204" name="Google Shape;204;p29"/>
          <p:cNvPicPr preferRelativeResize="0"/>
          <p:nvPr/>
        </p:nvPicPr>
        <p:blipFill>
          <a:blip r:embed="rId5">
            <a:alphaModFix/>
          </a:blip>
          <a:stretch>
            <a:fillRect/>
          </a:stretch>
        </p:blipFill>
        <p:spPr>
          <a:xfrm>
            <a:off x="5660750" y="1123825"/>
            <a:ext cx="1707925" cy="1124613"/>
          </a:xfrm>
          <a:prstGeom prst="rect">
            <a:avLst/>
          </a:prstGeom>
          <a:noFill/>
          <a:ln>
            <a:noFill/>
          </a:ln>
        </p:spPr>
      </p:pic>
      <p:sp>
        <p:nvSpPr>
          <p:cNvPr id="205" name="Google Shape;205;p29"/>
          <p:cNvSpPr/>
          <p:nvPr/>
        </p:nvSpPr>
        <p:spPr>
          <a:xfrm>
            <a:off x="5608300" y="1040300"/>
            <a:ext cx="467700" cy="281100"/>
          </a:xfrm>
          <a:prstGeom prst="ellipse">
            <a:avLst/>
          </a:prstGeom>
          <a:solidFill>
            <a:schemeClr val="lt1"/>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351C75"/>
                </a:solidFill>
              </a:rPr>
              <a:t>2a</a:t>
            </a:r>
            <a:endParaRPr b="1" sz="1000">
              <a:solidFill>
                <a:srgbClr val="351C75"/>
              </a:solidFill>
            </a:endParaRPr>
          </a:p>
        </p:txBody>
      </p:sp>
      <p:sp>
        <p:nvSpPr>
          <p:cNvPr id="206" name="Google Shape;206;p29"/>
          <p:cNvSpPr/>
          <p:nvPr/>
        </p:nvSpPr>
        <p:spPr>
          <a:xfrm>
            <a:off x="7260450" y="1040300"/>
            <a:ext cx="606900" cy="281100"/>
          </a:xfrm>
          <a:prstGeom prst="ellipse">
            <a:avLst/>
          </a:prstGeom>
          <a:solidFill>
            <a:schemeClr val="lt1"/>
          </a:solid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351C75"/>
                </a:solidFill>
              </a:rPr>
              <a:t>2b</a:t>
            </a:r>
            <a:endParaRPr b="1" sz="1000">
              <a:solidFill>
                <a:srgbClr val="351C75"/>
              </a:solidFill>
            </a:endParaRPr>
          </a:p>
        </p:txBody>
      </p:sp>
      <p:sp>
        <p:nvSpPr>
          <p:cNvPr id="207" name="Google Shape;207;p29"/>
          <p:cNvSpPr/>
          <p:nvPr/>
        </p:nvSpPr>
        <p:spPr>
          <a:xfrm>
            <a:off x="201950" y="1123825"/>
            <a:ext cx="787200" cy="281100"/>
          </a:xfrm>
          <a:prstGeom prst="ellipse">
            <a:avLst/>
          </a:prstGeom>
          <a:no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351C75"/>
                </a:solidFill>
              </a:rPr>
              <a:t>1.1a</a:t>
            </a:r>
            <a:endParaRPr b="1" sz="1000">
              <a:solidFill>
                <a:srgbClr val="351C75"/>
              </a:solidFill>
            </a:endParaRPr>
          </a:p>
        </p:txBody>
      </p:sp>
      <p:sp>
        <p:nvSpPr>
          <p:cNvPr id="208" name="Google Shape;208;p29"/>
          <p:cNvSpPr/>
          <p:nvPr/>
        </p:nvSpPr>
        <p:spPr>
          <a:xfrm>
            <a:off x="564075" y="2431200"/>
            <a:ext cx="787200" cy="281100"/>
          </a:xfrm>
          <a:prstGeom prst="ellipse">
            <a:avLst/>
          </a:prstGeom>
          <a:no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351C75"/>
                </a:solidFill>
              </a:rPr>
              <a:t>1.2a</a:t>
            </a:r>
            <a:endParaRPr b="1" sz="1000">
              <a:solidFill>
                <a:srgbClr val="351C75"/>
              </a:solidFill>
            </a:endParaRPr>
          </a:p>
        </p:txBody>
      </p:sp>
      <p:pic>
        <p:nvPicPr>
          <p:cNvPr id="209" name="Google Shape;209;p29"/>
          <p:cNvPicPr preferRelativeResize="0"/>
          <p:nvPr/>
        </p:nvPicPr>
        <p:blipFill>
          <a:blip r:embed="rId6">
            <a:alphaModFix/>
          </a:blip>
          <a:stretch>
            <a:fillRect/>
          </a:stretch>
        </p:blipFill>
        <p:spPr>
          <a:xfrm>
            <a:off x="3940500" y="1123830"/>
            <a:ext cx="1468075" cy="1053350"/>
          </a:xfrm>
          <a:prstGeom prst="rect">
            <a:avLst/>
          </a:prstGeom>
          <a:noFill/>
          <a:ln>
            <a:noFill/>
          </a:ln>
        </p:spPr>
      </p:pic>
      <p:sp>
        <p:nvSpPr>
          <p:cNvPr id="210" name="Google Shape;210;p29"/>
          <p:cNvSpPr/>
          <p:nvPr/>
        </p:nvSpPr>
        <p:spPr>
          <a:xfrm>
            <a:off x="3488850" y="1123825"/>
            <a:ext cx="787200" cy="281100"/>
          </a:xfrm>
          <a:prstGeom prst="ellipse">
            <a:avLst/>
          </a:prstGeom>
          <a:noFill/>
          <a:ln cap="flat" cmpd="sng" w="2857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351C75"/>
                </a:solidFill>
              </a:rPr>
              <a:t>1b</a:t>
            </a:r>
            <a:endParaRPr b="1" sz="1000">
              <a:solidFill>
                <a:srgbClr val="351C75"/>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p30"/>
          <p:cNvPicPr preferRelativeResize="0"/>
          <p:nvPr/>
        </p:nvPicPr>
        <p:blipFill>
          <a:blip r:embed="rId3">
            <a:alphaModFix/>
          </a:blip>
          <a:stretch>
            <a:fillRect/>
          </a:stretch>
        </p:blipFill>
        <p:spPr>
          <a:xfrm>
            <a:off x="5384613" y="252350"/>
            <a:ext cx="3206924" cy="4125476"/>
          </a:xfrm>
          <a:prstGeom prst="rect">
            <a:avLst/>
          </a:prstGeom>
          <a:noFill/>
          <a:ln>
            <a:noFill/>
          </a:ln>
        </p:spPr>
      </p:pic>
      <p:sp>
        <p:nvSpPr>
          <p:cNvPr id="216" name="Google Shape;216;p30"/>
          <p:cNvSpPr txBox="1"/>
          <p:nvPr/>
        </p:nvSpPr>
        <p:spPr>
          <a:xfrm>
            <a:off x="514275" y="252350"/>
            <a:ext cx="3850800" cy="93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u="sng">
                <a:solidFill>
                  <a:srgbClr val="351C75"/>
                </a:solidFill>
              </a:rPr>
              <a:t>Basal ganglia network : cognitive function</a:t>
            </a:r>
            <a:endParaRPr b="1" u="sng">
              <a:solidFill>
                <a:srgbClr val="351C75"/>
              </a:solidFill>
            </a:endParaRPr>
          </a:p>
          <a:p>
            <a:pPr indent="-304800" lvl="0" marL="457200" rtl="0" algn="l">
              <a:spcBef>
                <a:spcPts val="0"/>
              </a:spcBef>
              <a:spcAft>
                <a:spcPts val="0"/>
              </a:spcAft>
              <a:buClr>
                <a:schemeClr val="dk1"/>
              </a:buClr>
              <a:buSzPts val="1200"/>
              <a:buChar char="-"/>
            </a:pPr>
            <a:r>
              <a:rPr lang="en" sz="1200">
                <a:solidFill>
                  <a:schemeClr val="dk1"/>
                </a:solidFill>
              </a:rPr>
              <a:t>Premotor cortex</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Right inferior frontal gyrus</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Subthalamic nucleus</a:t>
            </a:r>
            <a:endParaRPr sz="1200">
              <a:solidFill>
                <a:schemeClr val="dk1"/>
              </a:solidFill>
            </a:endParaRPr>
          </a:p>
          <a:p>
            <a:pPr indent="0" lvl="0" marL="0" rtl="0" algn="l">
              <a:spcBef>
                <a:spcPts val="0"/>
              </a:spcBef>
              <a:spcAft>
                <a:spcPts val="0"/>
              </a:spcAft>
              <a:buNone/>
            </a:pPr>
            <a:r>
              <a:t/>
            </a:r>
            <a:endParaRPr b="1" sz="1200" u="sng"/>
          </a:p>
          <a:p>
            <a:pPr indent="0" lvl="0" marL="0" rtl="0" algn="l">
              <a:spcBef>
                <a:spcPts val="0"/>
              </a:spcBef>
              <a:spcAft>
                <a:spcPts val="0"/>
              </a:spcAft>
              <a:buNone/>
            </a:pPr>
            <a:r>
              <a:t/>
            </a:r>
            <a:endParaRPr sz="1200"/>
          </a:p>
          <a:p>
            <a:pPr indent="0" lvl="0" marL="457200" rtl="0" algn="l">
              <a:spcBef>
                <a:spcPts val="0"/>
              </a:spcBef>
              <a:spcAft>
                <a:spcPts val="0"/>
              </a:spcAft>
              <a:buNone/>
            </a:pPr>
            <a:r>
              <a:t/>
            </a:r>
            <a:endParaRPr b="1" sz="1200">
              <a:solidFill>
                <a:srgbClr val="990000"/>
              </a:solidFill>
            </a:endParaRPr>
          </a:p>
        </p:txBody>
      </p:sp>
      <p:pic>
        <p:nvPicPr>
          <p:cNvPr id="217" name="Google Shape;217;p30"/>
          <p:cNvPicPr preferRelativeResize="0"/>
          <p:nvPr/>
        </p:nvPicPr>
        <p:blipFill>
          <a:blip r:embed="rId4">
            <a:alphaModFix/>
          </a:blip>
          <a:stretch>
            <a:fillRect/>
          </a:stretch>
        </p:blipFill>
        <p:spPr>
          <a:xfrm>
            <a:off x="0" y="4056798"/>
            <a:ext cx="5272184" cy="939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1"/>
          <p:cNvSpPr txBox="1"/>
          <p:nvPr/>
        </p:nvSpPr>
        <p:spPr>
          <a:xfrm>
            <a:off x="161400" y="81250"/>
            <a:ext cx="7889700" cy="138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u="sng">
                <a:solidFill>
                  <a:srgbClr val="351C75"/>
                </a:solidFill>
              </a:rPr>
              <a:t>Altered Functional Connectivity of Basal Ganglia in Mild Cognitive Impairment and Alzheimer’s Disease </a:t>
            </a:r>
            <a:r>
              <a:rPr b="1" lang="en" sz="1200" u="sng"/>
              <a:t>:</a:t>
            </a:r>
            <a:endParaRPr b="1" sz="1200" u="sng"/>
          </a:p>
          <a:p>
            <a:pPr indent="-304800" lvl="0" marL="457200" rtl="0" algn="l">
              <a:spcBef>
                <a:spcPts val="0"/>
              </a:spcBef>
              <a:spcAft>
                <a:spcPts val="0"/>
              </a:spcAft>
              <a:buSzPts val="1200"/>
              <a:buChar char="-"/>
            </a:pPr>
            <a:r>
              <a:rPr lang="en" sz="1200"/>
              <a:t>In MCI : short range FCD decrease but long range FCD increase because compensation of external neuron for the recession of internal neuron (Basal ganglion network with utmost early-stage detection at amygdala)</a:t>
            </a:r>
            <a:endParaRPr sz="1200"/>
          </a:p>
          <a:p>
            <a:pPr indent="-304800" lvl="0" marL="457200" rtl="0" algn="l">
              <a:spcBef>
                <a:spcPts val="0"/>
              </a:spcBef>
              <a:spcAft>
                <a:spcPts val="0"/>
              </a:spcAft>
              <a:buSzPts val="1200"/>
              <a:buChar char="-"/>
            </a:pPr>
            <a:r>
              <a:rPr lang="en" sz="1200"/>
              <a:t>In AD : Short and long range FCD both decrease</a:t>
            </a:r>
            <a:endParaRPr sz="1200"/>
          </a:p>
          <a:p>
            <a:pPr indent="-304800" lvl="0" marL="457200" rtl="0" algn="l">
              <a:spcBef>
                <a:spcPts val="0"/>
              </a:spcBef>
              <a:spcAft>
                <a:spcPts val="0"/>
              </a:spcAft>
              <a:buSzPts val="1200"/>
              <a:buChar char="-"/>
            </a:pPr>
            <a:r>
              <a:rPr lang="en" sz="1200"/>
              <a:t>It claims that have close relationship between FCD and cognitive impairment</a:t>
            </a:r>
            <a:endParaRPr sz="1200"/>
          </a:p>
        </p:txBody>
      </p:sp>
      <p:sp>
        <p:nvSpPr>
          <p:cNvPr id="223" name="Google Shape;223;p31"/>
          <p:cNvSpPr txBox="1"/>
          <p:nvPr/>
        </p:nvSpPr>
        <p:spPr>
          <a:xfrm>
            <a:off x="6011500" y="1720675"/>
            <a:ext cx="2949300" cy="197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t>Take away:</a:t>
            </a:r>
            <a:endParaRPr sz="1200"/>
          </a:p>
          <a:p>
            <a:pPr indent="-304800" lvl="0" marL="457200" rtl="0" algn="l">
              <a:spcBef>
                <a:spcPts val="0"/>
              </a:spcBef>
              <a:spcAft>
                <a:spcPts val="0"/>
              </a:spcAft>
              <a:buSzPts val="1200"/>
              <a:buAutoNum type="arabicPeriod"/>
            </a:pPr>
            <a:r>
              <a:rPr lang="en" sz="1200"/>
              <a:t>Compensating mechanism may cause undifferentiated behavior between normal and MCI</a:t>
            </a:r>
            <a:endParaRPr sz="1200"/>
          </a:p>
          <a:p>
            <a:pPr indent="-304800" lvl="0" marL="457200" rtl="0" algn="l">
              <a:spcBef>
                <a:spcPts val="0"/>
              </a:spcBef>
              <a:spcAft>
                <a:spcPts val="0"/>
              </a:spcAft>
              <a:buSzPts val="1200"/>
              <a:buAutoNum type="arabicPeriod"/>
            </a:pPr>
            <a:r>
              <a:rPr lang="en" sz="1200"/>
              <a:t>This research have done in resting state ( If we assign brain to work more, does that </a:t>
            </a:r>
            <a:r>
              <a:rPr lang="en" sz="1200"/>
              <a:t>compensation</a:t>
            </a:r>
            <a:r>
              <a:rPr lang="en" sz="1200"/>
              <a:t> still working </a:t>
            </a:r>
            <a:r>
              <a:rPr lang="en" sz="1200"/>
              <a:t>efficiency</a:t>
            </a:r>
            <a:r>
              <a:rPr lang="en" sz="1200"/>
              <a:t> equal to normal brain?)</a:t>
            </a:r>
            <a:endParaRPr sz="1200"/>
          </a:p>
        </p:txBody>
      </p:sp>
      <p:graphicFrame>
        <p:nvGraphicFramePr>
          <p:cNvPr id="224" name="Google Shape;224;p31"/>
          <p:cNvGraphicFramePr/>
          <p:nvPr/>
        </p:nvGraphicFramePr>
        <p:xfrm>
          <a:off x="730613" y="4192900"/>
          <a:ext cx="3000000" cy="3000000"/>
        </p:xfrm>
        <a:graphic>
          <a:graphicData uri="http://schemas.openxmlformats.org/drawingml/2006/table">
            <a:tbl>
              <a:tblPr>
                <a:noFill/>
                <a:tableStyleId>{D04C27B6-2128-4D3A-BD79-397917448CAA}</a:tableStyleId>
              </a:tblPr>
              <a:tblGrid>
                <a:gridCol w="1561150"/>
                <a:gridCol w="499475"/>
                <a:gridCol w="3148975"/>
                <a:gridCol w="2553850"/>
              </a:tblGrid>
              <a:tr h="503500">
                <a:tc gridSpan="2">
                  <a:txBody>
                    <a:bodyPr/>
                    <a:lstStyle/>
                    <a:p>
                      <a:pPr indent="0" lvl="0" marL="0" rtl="0" algn="ctr">
                        <a:spcBef>
                          <a:spcPts val="0"/>
                        </a:spcBef>
                        <a:spcAft>
                          <a:spcPts val="0"/>
                        </a:spcAft>
                        <a:buNone/>
                      </a:pPr>
                      <a:r>
                        <a:rPr lang="en" sz="1100">
                          <a:solidFill>
                            <a:schemeClr val="dk1"/>
                          </a:solidFill>
                        </a:rPr>
                        <a:t>1. Record Resting State MRI from (16 NCs,</a:t>
                      </a:r>
                      <a:endParaRPr sz="1100">
                        <a:solidFill>
                          <a:schemeClr val="dk1"/>
                        </a:solidFill>
                      </a:endParaRPr>
                    </a:p>
                    <a:p>
                      <a:pPr indent="0" lvl="0" marL="0" rtl="0" algn="ctr">
                        <a:spcBef>
                          <a:spcPts val="0"/>
                        </a:spcBef>
                        <a:spcAft>
                          <a:spcPts val="0"/>
                        </a:spcAft>
                        <a:buNone/>
                      </a:pPr>
                      <a:r>
                        <a:rPr lang="en" sz="1100">
                          <a:solidFill>
                            <a:schemeClr val="dk1"/>
                          </a:solidFill>
                        </a:rPr>
                        <a:t>16 with MCI, and 16 with AD)</a:t>
                      </a:r>
                      <a:endParaRPr sz="1100">
                        <a:solidFill>
                          <a:schemeClr val="dk1"/>
                        </a:solidFill>
                      </a:endParaRPr>
                    </a:p>
                  </a:txBody>
                  <a:tcPr marT="91425" marB="91425" marR="91425" marL="91425" anchor="ctr"/>
                </a:tc>
                <a:tc hMerge="1"/>
                <a:tc>
                  <a:txBody>
                    <a:bodyPr/>
                    <a:lstStyle/>
                    <a:p>
                      <a:pPr indent="0" lvl="0" marL="0" rtl="0" algn="l">
                        <a:spcBef>
                          <a:spcPts val="0"/>
                        </a:spcBef>
                        <a:spcAft>
                          <a:spcPts val="0"/>
                        </a:spcAft>
                        <a:buNone/>
                      </a:pPr>
                      <a:r>
                        <a:rPr lang="en" sz="1100">
                          <a:solidFill>
                            <a:srgbClr val="351C75"/>
                          </a:solidFill>
                        </a:rPr>
                        <a:t>2. Calculate Voxel-based Functional Connectivity Density (FCD), </a:t>
                      </a:r>
                      <a:br>
                        <a:rPr lang="en" sz="1100">
                          <a:solidFill>
                            <a:srgbClr val="351C75"/>
                          </a:solidFill>
                        </a:rPr>
                      </a:br>
                      <a:r>
                        <a:rPr lang="en" sz="1100">
                          <a:solidFill>
                            <a:srgbClr val="351C75"/>
                          </a:solidFill>
                        </a:rPr>
                        <a:t>- Short vs Long-range FCDs (75mm interzone)</a:t>
                      </a:r>
                      <a:endParaRPr sz="1100">
                        <a:solidFill>
                          <a:srgbClr val="351C75"/>
                        </a:solidFill>
                      </a:endParaRPr>
                    </a:p>
                    <a:p>
                      <a:pPr indent="0" lvl="0" marL="0" rtl="0" algn="l">
                        <a:spcBef>
                          <a:spcPts val="0"/>
                        </a:spcBef>
                        <a:spcAft>
                          <a:spcPts val="0"/>
                        </a:spcAft>
                        <a:buNone/>
                      </a:pPr>
                      <a:r>
                        <a:t/>
                      </a:r>
                      <a:endParaRPr sz="1100">
                        <a:solidFill>
                          <a:srgbClr val="351C75"/>
                        </a:solidFill>
                      </a:endParaRPr>
                    </a:p>
                  </a:txBody>
                  <a:tcPr marT="91425" marB="91425" marR="91425" marL="91425" anchor="ctr"/>
                </a:tc>
                <a:tc>
                  <a:txBody>
                    <a:bodyPr/>
                    <a:lstStyle/>
                    <a:p>
                      <a:pPr indent="0" lvl="0" marL="0" rtl="0" algn="ctr">
                        <a:spcBef>
                          <a:spcPts val="0"/>
                        </a:spcBef>
                        <a:spcAft>
                          <a:spcPts val="0"/>
                        </a:spcAft>
                        <a:buNone/>
                      </a:pPr>
                      <a:r>
                        <a:rPr lang="en" sz="1100">
                          <a:solidFill>
                            <a:srgbClr val="351C75"/>
                          </a:solidFill>
                        </a:rPr>
                        <a:t>3. </a:t>
                      </a:r>
                      <a:endParaRPr sz="1100">
                        <a:solidFill>
                          <a:srgbClr val="A64D79"/>
                        </a:solidFill>
                      </a:endParaRPr>
                    </a:p>
                  </a:txBody>
                  <a:tcPr marT="91425" marB="91425" marR="91425" marL="91425" anchor="ctr"/>
                </a:tc>
              </a:tr>
            </a:tbl>
          </a:graphicData>
        </a:graphic>
      </p:graphicFrame>
      <p:pic>
        <p:nvPicPr>
          <p:cNvPr id="225" name="Google Shape;225;p31"/>
          <p:cNvPicPr preferRelativeResize="0"/>
          <p:nvPr/>
        </p:nvPicPr>
        <p:blipFill>
          <a:blip r:embed="rId3">
            <a:alphaModFix/>
          </a:blip>
          <a:stretch>
            <a:fillRect/>
          </a:stretch>
        </p:blipFill>
        <p:spPr>
          <a:xfrm>
            <a:off x="570975" y="1402563"/>
            <a:ext cx="2949275" cy="1294407"/>
          </a:xfrm>
          <a:prstGeom prst="rect">
            <a:avLst/>
          </a:prstGeom>
          <a:noFill/>
          <a:ln>
            <a:noFill/>
          </a:ln>
        </p:spPr>
      </p:pic>
      <p:pic>
        <p:nvPicPr>
          <p:cNvPr id="226" name="Google Shape;226;p31"/>
          <p:cNvPicPr preferRelativeResize="0"/>
          <p:nvPr/>
        </p:nvPicPr>
        <p:blipFill>
          <a:blip r:embed="rId4">
            <a:alphaModFix/>
          </a:blip>
          <a:stretch>
            <a:fillRect/>
          </a:stretch>
        </p:blipFill>
        <p:spPr>
          <a:xfrm>
            <a:off x="570975" y="2721163"/>
            <a:ext cx="2949275" cy="1303574"/>
          </a:xfrm>
          <a:prstGeom prst="rect">
            <a:avLst/>
          </a:prstGeom>
          <a:noFill/>
          <a:ln>
            <a:noFill/>
          </a:ln>
        </p:spPr>
      </p:pic>
      <p:pic>
        <p:nvPicPr>
          <p:cNvPr id="227" name="Google Shape;227;p31"/>
          <p:cNvPicPr preferRelativeResize="0"/>
          <p:nvPr/>
        </p:nvPicPr>
        <p:blipFill>
          <a:blip r:embed="rId5">
            <a:alphaModFix/>
          </a:blip>
          <a:stretch>
            <a:fillRect/>
          </a:stretch>
        </p:blipFill>
        <p:spPr>
          <a:xfrm>
            <a:off x="3591525" y="1369213"/>
            <a:ext cx="2348701" cy="26823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2"/>
          <p:cNvSpPr txBox="1"/>
          <p:nvPr/>
        </p:nvSpPr>
        <p:spPr>
          <a:xfrm>
            <a:off x="311100" y="220275"/>
            <a:ext cx="6812700" cy="80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u="sng">
                <a:solidFill>
                  <a:srgbClr val="351C75"/>
                </a:solidFill>
              </a:rPr>
              <a:t>FCD : functional connectivity density</a:t>
            </a:r>
            <a:endParaRPr b="1" u="sng">
              <a:solidFill>
                <a:srgbClr val="351C75"/>
              </a:solidFill>
            </a:endParaRPr>
          </a:p>
          <a:p>
            <a:pPr indent="-317500" lvl="0" marL="457200" rtl="0" algn="l">
              <a:spcBef>
                <a:spcPts val="0"/>
              </a:spcBef>
              <a:spcAft>
                <a:spcPts val="0"/>
              </a:spcAft>
              <a:buClr>
                <a:srgbClr val="351C75"/>
              </a:buClr>
              <a:buSzPts val="1400"/>
              <a:buChar char="●"/>
            </a:pPr>
            <a:r>
              <a:rPr b="1" lang="en">
                <a:solidFill>
                  <a:srgbClr val="351C75"/>
                </a:solidFill>
              </a:rPr>
              <a:t>Short range FCD : </a:t>
            </a:r>
            <a:r>
              <a:rPr lang="en">
                <a:solidFill>
                  <a:srgbClr val="351C75"/>
                </a:solidFill>
              </a:rPr>
              <a:t>connecting within local area</a:t>
            </a:r>
            <a:endParaRPr>
              <a:solidFill>
                <a:srgbClr val="351C75"/>
              </a:solidFill>
            </a:endParaRPr>
          </a:p>
          <a:p>
            <a:pPr indent="-317500" lvl="0" marL="457200" rtl="0" algn="l">
              <a:spcBef>
                <a:spcPts val="0"/>
              </a:spcBef>
              <a:spcAft>
                <a:spcPts val="0"/>
              </a:spcAft>
              <a:buClr>
                <a:srgbClr val="351C75"/>
              </a:buClr>
              <a:buSzPts val="1400"/>
              <a:buChar char="●"/>
            </a:pPr>
            <a:r>
              <a:rPr b="1" lang="en">
                <a:solidFill>
                  <a:srgbClr val="351C75"/>
                </a:solidFill>
              </a:rPr>
              <a:t>Long range FCD : </a:t>
            </a:r>
            <a:r>
              <a:rPr lang="en">
                <a:solidFill>
                  <a:srgbClr val="351C75"/>
                </a:solidFill>
              </a:rPr>
              <a:t>connecting outside local functional mass</a:t>
            </a:r>
            <a:endParaRPr>
              <a:solidFill>
                <a:srgbClr val="351C75"/>
              </a:solidFill>
            </a:endParaRPr>
          </a:p>
          <a:p>
            <a:pPr indent="0" lvl="0" marL="0" rtl="0" algn="l">
              <a:spcBef>
                <a:spcPts val="0"/>
              </a:spcBef>
              <a:spcAft>
                <a:spcPts val="0"/>
              </a:spcAft>
              <a:buNone/>
            </a:pPr>
            <a:r>
              <a:t/>
            </a:r>
            <a:endParaRPr b="1" sz="1200" u="sng"/>
          </a:p>
          <a:p>
            <a:pPr indent="0" lvl="0" marL="0" rtl="0" algn="l">
              <a:spcBef>
                <a:spcPts val="0"/>
              </a:spcBef>
              <a:spcAft>
                <a:spcPts val="0"/>
              </a:spcAft>
              <a:buNone/>
            </a:pPr>
            <a:r>
              <a:t/>
            </a:r>
            <a:endParaRPr sz="1200"/>
          </a:p>
          <a:p>
            <a:pPr indent="0" lvl="0" marL="457200" rtl="0" algn="l">
              <a:spcBef>
                <a:spcPts val="0"/>
              </a:spcBef>
              <a:spcAft>
                <a:spcPts val="0"/>
              </a:spcAft>
              <a:buNone/>
            </a:pPr>
            <a:r>
              <a:t/>
            </a:r>
            <a:endParaRPr b="1" sz="1200">
              <a:solidFill>
                <a:srgbClr val="990000"/>
              </a:solidFill>
            </a:endParaRPr>
          </a:p>
        </p:txBody>
      </p:sp>
      <p:pic>
        <p:nvPicPr>
          <p:cNvPr id="233" name="Google Shape;233;p32"/>
          <p:cNvPicPr preferRelativeResize="0"/>
          <p:nvPr/>
        </p:nvPicPr>
        <p:blipFill rotWithShape="1">
          <a:blip r:embed="rId3">
            <a:alphaModFix/>
          </a:blip>
          <a:srcRect b="0" l="11943" r="12614" t="0"/>
          <a:stretch/>
        </p:blipFill>
        <p:spPr>
          <a:xfrm>
            <a:off x="2188075" y="1090715"/>
            <a:ext cx="4767850" cy="2029850"/>
          </a:xfrm>
          <a:prstGeom prst="rect">
            <a:avLst/>
          </a:prstGeom>
          <a:noFill/>
          <a:ln>
            <a:noFill/>
          </a:ln>
        </p:spPr>
      </p:pic>
      <p:grpSp>
        <p:nvGrpSpPr>
          <p:cNvPr id="234" name="Google Shape;234;p32"/>
          <p:cNvGrpSpPr/>
          <p:nvPr/>
        </p:nvGrpSpPr>
        <p:grpSpPr>
          <a:xfrm>
            <a:off x="311109" y="3077724"/>
            <a:ext cx="5005718" cy="1085114"/>
            <a:chOff x="444650" y="2759550"/>
            <a:chExt cx="5987700" cy="1133279"/>
          </a:xfrm>
        </p:grpSpPr>
        <p:pic>
          <p:nvPicPr>
            <p:cNvPr id="235" name="Google Shape;235;p32"/>
            <p:cNvPicPr preferRelativeResize="0"/>
            <p:nvPr/>
          </p:nvPicPr>
          <p:blipFill>
            <a:blip r:embed="rId4">
              <a:alphaModFix/>
            </a:blip>
            <a:stretch>
              <a:fillRect/>
            </a:stretch>
          </p:blipFill>
          <p:spPr>
            <a:xfrm>
              <a:off x="444650" y="2759550"/>
              <a:ext cx="5987700" cy="1133279"/>
            </a:xfrm>
            <a:prstGeom prst="rect">
              <a:avLst/>
            </a:prstGeom>
            <a:noFill/>
            <a:ln>
              <a:noFill/>
            </a:ln>
          </p:spPr>
        </p:pic>
        <p:sp>
          <p:nvSpPr>
            <p:cNvPr id="236" name="Google Shape;236;p32"/>
            <p:cNvSpPr/>
            <p:nvPr/>
          </p:nvSpPr>
          <p:spPr>
            <a:xfrm>
              <a:off x="504725" y="3148125"/>
              <a:ext cx="5892000" cy="181800"/>
            </a:xfrm>
            <a:prstGeom prst="rect">
              <a:avLst/>
            </a:prstGeom>
            <a:solidFill>
              <a:srgbClr val="78FF47">
                <a:alpha val="310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7" name="Google Shape;237;p32"/>
            <p:cNvSpPr/>
            <p:nvPr/>
          </p:nvSpPr>
          <p:spPr>
            <a:xfrm>
              <a:off x="504725" y="3329925"/>
              <a:ext cx="1507800" cy="181800"/>
            </a:xfrm>
            <a:prstGeom prst="rect">
              <a:avLst/>
            </a:prstGeom>
            <a:solidFill>
              <a:srgbClr val="78FF47">
                <a:alpha val="310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8" name="Google Shape;238;p32"/>
            <p:cNvSpPr/>
            <p:nvPr/>
          </p:nvSpPr>
          <p:spPr>
            <a:xfrm>
              <a:off x="2793100" y="3329900"/>
              <a:ext cx="3486000" cy="181800"/>
            </a:xfrm>
            <a:prstGeom prst="rect">
              <a:avLst/>
            </a:prstGeom>
            <a:solidFill>
              <a:srgbClr val="78FF47">
                <a:alpha val="310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9" name="Google Shape;239;p32"/>
            <p:cNvSpPr/>
            <p:nvPr/>
          </p:nvSpPr>
          <p:spPr>
            <a:xfrm>
              <a:off x="504725" y="3511700"/>
              <a:ext cx="3069000" cy="181800"/>
            </a:xfrm>
            <a:prstGeom prst="rect">
              <a:avLst/>
            </a:prstGeom>
            <a:solidFill>
              <a:srgbClr val="78FF47">
                <a:alpha val="310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240" name="Google Shape;240;p32"/>
          <p:cNvGrpSpPr/>
          <p:nvPr/>
        </p:nvGrpSpPr>
        <p:grpSpPr>
          <a:xfrm>
            <a:off x="3819630" y="4205702"/>
            <a:ext cx="5090144" cy="801901"/>
            <a:chOff x="2583325" y="3964100"/>
            <a:chExt cx="5987701" cy="969650"/>
          </a:xfrm>
        </p:grpSpPr>
        <p:pic>
          <p:nvPicPr>
            <p:cNvPr id="241" name="Google Shape;241;p32"/>
            <p:cNvPicPr preferRelativeResize="0"/>
            <p:nvPr/>
          </p:nvPicPr>
          <p:blipFill>
            <a:blip r:embed="rId5">
              <a:alphaModFix/>
            </a:blip>
            <a:stretch>
              <a:fillRect/>
            </a:stretch>
          </p:blipFill>
          <p:spPr>
            <a:xfrm>
              <a:off x="2583325" y="3964100"/>
              <a:ext cx="5987701" cy="969525"/>
            </a:xfrm>
            <a:prstGeom prst="rect">
              <a:avLst/>
            </a:prstGeom>
            <a:noFill/>
            <a:ln>
              <a:noFill/>
            </a:ln>
          </p:spPr>
        </p:pic>
        <p:sp>
          <p:nvSpPr>
            <p:cNvPr id="242" name="Google Shape;242;p32"/>
            <p:cNvSpPr/>
            <p:nvPr/>
          </p:nvSpPr>
          <p:spPr>
            <a:xfrm>
              <a:off x="6161500" y="4357963"/>
              <a:ext cx="2356200" cy="181800"/>
            </a:xfrm>
            <a:prstGeom prst="rect">
              <a:avLst/>
            </a:prstGeom>
            <a:solidFill>
              <a:srgbClr val="78FF47">
                <a:alpha val="310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3" name="Google Shape;243;p32"/>
            <p:cNvSpPr/>
            <p:nvPr/>
          </p:nvSpPr>
          <p:spPr>
            <a:xfrm>
              <a:off x="2632700" y="4548950"/>
              <a:ext cx="5892000" cy="181800"/>
            </a:xfrm>
            <a:prstGeom prst="rect">
              <a:avLst/>
            </a:prstGeom>
            <a:solidFill>
              <a:srgbClr val="78FF47">
                <a:alpha val="310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4" name="Google Shape;244;p32"/>
            <p:cNvSpPr/>
            <p:nvPr/>
          </p:nvSpPr>
          <p:spPr>
            <a:xfrm>
              <a:off x="2654100" y="4709350"/>
              <a:ext cx="1839300" cy="224400"/>
            </a:xfrm>
            <a:prstGeom prst="rect">
              <a:avLst/>
            </a:prstGeom>
            <a:solidFill>
              <a:srgbClr val="78FF47">
                <a:alpha val="310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pic>
        <p:nvPicPr>
          <p:cNvPr id="249" name="Google Shape;249;p33"/>
          <p:cNvPicPr preferRelativeResize="0"/>
          <p:nvPr/>
        </p:nvPicPr>
        <p:blipFill>
          <a:blip r:embed="rId3">
            <a:alphaModFix/>
          </a:blip>
          <a:stretch>
            <a:fillRect/>
          </a:stretch>
        </p:blipFill>
        <p:spPr>
          <a:xfrm>
            <a:off x="318051" y="292325"/>
            <a:ext cx="6299325" cy="2628150"/>
          </a:xfrm>
          <a:prstGeom prst="rect">
            <a:avLst/>
          </a:prstGeom>
          <a:noFill/>
          <a:ln>
            <a:noFill/>
          </a:ln>
        </p:spPr>
      </p:pic>
      <p:sp>
        <p:nvSpPr>
          <p:cNvPr id="250" name="Google Shape;250;p33"/>
          <p:cNvSpPr txBox="1"/>
          <p:nvPr/>
        </p:nvSpPr>
        <p:spPr>
          <a:xfrm>
            <a:off x="270575" y="3037125"/>
            <a:ext cx="7616100" cy="17145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rgbClr val="85200C"/>
              </a:buClr>
              <a:buSzPts val="1500"/>
              <a:buChar char="●"/>
            </a:pPr>
            <a:r>
              <a:rPr lang="en" sz="1500">
                <a:solidFill>
                  <a:srgbClr val="85200C"/>
                </a:solidFill>
              </a:rPr>
              <a:t>FCD (Functional Connectivity Density) -&gt; Calculate Pearson’s Corr for every pair of voxels (thresh = 0.6)</a:t>
            </a:r>
            <a:endParaRPr sz="1500">
              <a:solidFill>
                <a:srgbClr val="85200C"/>
              </a:solidFill>
            </a:endParaRPr>
          </a:p>
          <a:p>
            <a:pPr indent="-323850" lvl="0" marL="457200" rtl="0" algn="l">
              <a:spcBef>
                <a:spcPts val="0"/>
              </a:spcBef>
              <a:spcAft>
                <a:spcPts val="0"/>
              </a:spcAft>
              <a:buClr>
                <a:srgbClr val="85200C"/>
              </a:buClr>
              <a:buSzPts val="1500"/>
              <a:buChar char="●"/>
            </a:pPr>
            <a:r>
              <a:rPr lang="en" sz="1500">
                <a:solidFill>
                  <a:srgbClr val="85200C"/>
                </a:solidFill>
              </a:rPr>
              <a:t>Short-range and Long-range FCDs using 75mm physical distance as a threshold (interzone connection)</a:t>
            </a:r>
            <a:endParaRPr sz="1500">
              <a:solidFill>
                <a:srgbClr val="85200C"/>
              </a:solidFill>
            </a:endParaRPr>
          </a:p>
          <a:p>
            <a:pPr indent="-323850" lvl="0" marL="457200" rtl="0" algn="l">
              <a:spcBef>
                <a:spcPts val="0"/>
              </a:spcBef>
              <a:spcAft>
                <a:spcPts val="0"/>
              </a:spcAft>
              <a:buClr>
                <a:srgbClr val="85200C"/>
              </a:buClr>
              <a:buSzPts val="1500"/>
              <a:buChar char="●"/>
            </a:pPr>
            <a:r>
              <a:rPr lang="en" sz="1500">
                <a:solidFill>
                  <a:srgbClr val="85200C"/>
                </a:solidFill>
              </a:rPr>
              <a:t>FC-strength -&gt; Degree of the node -&gt; Number of connections of that voxel</a:t>
            </a:r>
            <a:endParaRPr sz="1500">
              <a:solidFill>
                <a:srgbClr val="85200C"/>
              </a:solidFill>
            </a:endParaRPr>
          </a:p>
          <a:p>
            <a:pPr indent="-323850" lvl="0" marL="457200" rtl="0" algn="l">
              <a:spcBef>
                <a:spcPts val="0"/>
              </a:spcBef>
              <a:spcAft>
                <a:spcPts val="0"/>
              </a:spcAft>
              <a:buClr>
                <a:srgbClr val="85200C"/>
              </a:buClr>
              <a:buSzPts val="1500"/>
              <a:buChar char="●"/>
            </a:pPr>
            <a:r>
              <a:t/>
            </a:r>
            <a:endParaRPr sz="1500">
              <a:solidFill>
                <a:srgbClr val="85200C"/>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4"/>
          <p:cNvSpPr txBox="1"/>
          <p:nvPr/>
        </p:nvSpPr>
        <p:spPr>
          <a:xfrm>
            <a:off x="161400" y="81250"/>
            <a:ext cx="7889700" cy="138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u="sng">
                <a:solidFill>
                  <a:srgbClr val="351C75"/>
                </a:solidFill>
              </a:rPr>
              <a:t>Coherence a measure of the brain networks: past and present</a:t>
            </a:r>
            <a:endParaRPr sz="1200"/>
          </a:p>
          <a:p>
            <a:pPr indent="0" lvl="0" marL="457200" rtl="0" algn="l">
              <a:spcBef>
                <a:spcPts val="0"/>
              </a:spcBef>
              <a:spcAft>
                <a:spcPts val="0"/>
              </a:spcAft>
              <a:buNone/>
            </a:pPr>
            <a:r>
              <a:t/>
            </a:r>
            <a:endParaRPr b="1" sz="1200">
              <a:solidFill>
                <a:srgbClr val="990000"/>
              </a:solidFill>
            </a:endParaRPr>
          </a:p>
        </p:txBody>
      </p:sp>
      <p:sp>
        <p:nvSpPr>
          <p:cNvPr id="256" name="Google Shape;256;p34"/>
          <p:cNvSpPr txBox="1"/>
          <p:nvPr/>
        </p:nvSpPr>
        <p:spPr>
          <a:xfrm>
            <a:off x="161400" y="622025"/>
            <a:ext cx="5541900" cy="138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u="sng"/>
              <a:t>Quick Summary:</a:t>
            </a:r>
            <a:endParaRPr b="1" sz="1200" u="sng"/>
          </a:p>
          <a:p>
            <a:pPr indent="0" lvl="0" marL="0" rtl="0" algn="l">
              <a:spcBef>
                <a:spcPts val="0"/>
              </a:spcBef>
              <a:spcAft>
                <a:spcPts val="0"/>
              </a:spcAft>
              <a:buNone/>
            </a:pPr>
            <a:r>
              <a:t/>
            </a:r>
            <a:endParaRPr b="1" sz="1200" u="sng"/>
          </a:p>
          <a:p>
            <a:pPr indent="-304800" lvl="0" marL="457200" rtl="0" algn="l">
              <a:spcBef>
                <a:spcPts val="0"/>
              </a:spcBef>
              <a:spcAft>
                <a:spcPts val="0"/>
              </a:spcAft>
              <a:buSzPts val="1200"/>
              <a:buAutoNum type="arabicPeriod"/>
            </a:pPr>
            <a:r>
              <a:rPr lang="en" sz="1200"/>
              <a:t>Coherence across the network is when populations of neurons are active the same time with other populations and have the similar signals</a:t>
            </a:r>
            <a:endParaRPr sz="1200"/>
          </a:p>
          <a:p>
            <a:pPr indent="-304800" lvl="0" marL="457200" rtl="0" algn="l">
              <a:spcBef>
                <a:spcPts val="0"/>
              </a:spcBef>
              <a:spcAft>
                <a:spcPts val="0"/>
              </a:spcAft>
              <a:buSzPts val="1200"/>
              <a:buAutoNum type="arabicPeriod"/>
            </a:pPr>
            <a:r>
              <a:rPr lang="en" sz="1200"/>
              <a:t>EEG measure the return or volume currents outside the neuron : show only sensor space</a:t>
            </a:r>
            <a:endParaRPr sz="1200"/>
          </a:p>
          <a:p>
            <a:pPr indent="0" lvl="0" marL="0" rtl="0" algn="l">
              <a:spcBef>
                <a:spcPts val="0"/>
              </a:spcBef>
              <a:spcAft>
                <a:spcPts val="0"/>
              </a:spcAft>
              <a:buNone/>
            </a:pPr>
            <a:r>
              <a:t/>
            </a:r>
            <a:endParaRPr sz="1200"/>
          </a:p>
        </p:txBody>
      </p:sp>
      <p:sp>
        <p:nvSpPr>
          <p:cNvPr id="257" name="Google Shape;257;p34"/>
          <p:cNvSpPr txBox="1"/>
          <p:nvPr/>
        </p:nvSpPr>
        <p:spPr>
          <a:xfrm>
            <a:off x="271025" y="2010425"/>
            <a:ext cx="5541900" cy="138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u="sng"/>
              <a:t>Take away</a:t>
            </a:r>
            <a:r>
              <a:rPr b="1" lang="en" sz="1200" u="sng"/>
              <a:t>:</a:t>
            </a:r>
            <a:endParaRPr b="1" sz="1200" u="sng"/>
          </a:p>
          <a:p>
            <a:pPr indent="0" lvl="0" marL="0" rtl="0" algn="l">
              <a:spcBef>
                <a:spcPts val="0"/>
              </a:spcBef>
              <a:spcAft>
                <a:spcPts val="0"/>
              </a:spcAft>
              <a:buNone/>
            </a:pPr>
            <a:r>
              <a:t/>
            </a:r>
            <a:endParaRPr b="1" sz="1200" u="sng"/>
          </a:p>
          <a:p>
            <a:pPr indent="-304800" lvl="0" marL="457200" rtl="0" algn="l">
              <a:spcBef>
                <a:spcPts val="0"/>
              </a:spcBef>
              <a:spcAft>
                <a:spcPts val="0"/>
              </a:spcAft>
              <a:buSzPts val="1200"/>
              <a:buAutoNum type="arabicPeriod"/>
            </a:pPr>
            <a:r>
              <a:rPr lang="en" sz="1200"/>
              <a:t>Have other research using coherence to calculate the connection between brain position and claiming on top of it</a:t>
            </a:r>
            <a:endParaRPr sz="1200"/>
          </a:p>
          <a:p>
            <a:pPr indent="0" lvl="0" marL="0" rtl="0" algn="l">
              <a:spcBef>
                <a:spcPts val="0"/>
              </a:spcBef>
              <a:spcAft>
                <a:spcPts val="0"/>
              </a:spcAft>
              <a:buNone/>
            </a:pPr>
            <a:r>
              <a:t/>
            </a:r>
            <a:endParaRPr sz="12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1" name="Shape 261"/>
        <p:cNvGrpSpPr/>
        <p:nvPr/>
      </p:nvGrpSpPr>
      <p:grpSpPr>
        <a:xfrm>
          <a:off x="0" y="0"/>
          <a:ext cx="0" cy="0"/>
          <a:chOff x="0" y="0"/>
          <a:chExt cx="0" cy="0"/>
        </a:xfrm>
      </p:grpSpPr>
      <p:sp>
        <p:nvSpPr>
          <p:cNvPr id="262" name="Google Shape;262;p35"/>
          <p:cNvSpPr txBox="1"/>
          <p:nvPr/>
        </p:nvSpPr>
        <p:spPr>
          <a:xfrm>
            <a:off x="161400" y="81250"/>
            <a:ext cx="7889700" cy="138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u="sng">
                <a:solidFill>
                  <a:srgbClr val="351C75"/>
                </a:solidFill>
              </a:rPr>
              <a:t>Attention and Working Memory-Related EEG Markers of Subtle Cognitive Deterioration in Healthy Elderly Individuals</a:t>
            </a:r>
            <a:endParaRPr b="1" u="sng">
              <a:solidFill>
                <a:srgbClr val="351C75"/>
              </a:solidFill>
            </a:endParaRPr>
          </a:p>
          <a:p>
            <a:pPr indent="0" lvl="0" marL="0" rtl="0" algn="l">
              <a:spcBef>
                <a:spcPts val="0"/>
              </a:spcBef>
              <a:spcAft>
                <a:spcPts val="0"/>
              </a:spcAft>
              <a:buNone/>
            </a:pPr>
            <a:r>
              <a:rPr b="1" lang="en" sz="1200" u="sng"/>
              <a:t>Experiment:</a:t>
            </a:r>
            <a:endParaRPr sz="1200"/>
          </a:p>
          <a:p>
            <a:pPr indent="0" lvl="0" marL="457200" rtl="0" algn="l">
              <a:spcBef>
                <a:spcPts val="0"/>
              </a:spcBef>
              <a:spcAft>
                <a:spcPts val="0"/>
              </a:spcAft>
              <a:buNone/>
            </a:pPr>
            <a:r>
              <a:t/>
            </a:r>
            <a:endParaRPr b="1" sz="1200">
              <a:solidFill>
                <a:srgbClr val="990000"/>
              </a:solidFill>
            </a:endParaRPr>
          </a:p>
        </p:txBody>
      </p:sp>
      <p:graphicFrame>
        <p:nvGraphicFramePr>
          <p:cNvPr id="263" name="Google Shape;263;p35"/>
          <p:cNvGraphicFramePr/>
          <p:nvPr/>
        </p:nvGraphicFramePr>
        <p:xfrm>
          <a:off x="229113" y="4192900"/>
          <a:ext cx="3000000" cy="3000000"/>
        </p:xfrm>
        <a:graphic>
          <a:graphicData uri="http://schemas.openxmlformats.org/drawingml/2006/table">
            <a:tbl>
              <a:tblPr>
                <a:noFill/>
                <a:tableStyleId>{D04C27B6-2128-4D3A-BD79-397917448CAA}</a:tableStyleId>
              </a:tblPr>
              <a:tblGrid>
                <a:gridCol w="1597800"/>
                <a:gridCol w="786425"/>
                <a:gridCol w="1807750"/>
                <a:gridCol w="2210350"/>
              </a:tblGrid>
              <a:tr h="252250">
                <a:tc gridSpan="2">
                  <a:txBody>
                    <a:bodyPr/>
                    <a:lstStyle/>
                    <a:p>
                      <a:pPr indent="0" lvl="0" marL="0" rtl="0" algn="ctr">
                        <a:spcBef>
                          <a:spcPts val="0"/>
                        </a:spcBef>
                        <a:spcAft>
                          <a:spcPts val="0"/>
                        </a:spcAft>
                        <a:buNone/>
                      </a:pPr>
                      <a:r>
                        <a:rPr lang="en" sz="1100">
                          <a:solidFill>
                            <a:schemeClr val="dk1"/>
                          </a:solidFill>
                        </a:rPr>
                        <a:t>1. </a:t>
                      </a:r>
                      <a:endParaRPr b="1" sz="1100">
                        <a:solidFill>
                          <a:srgbClr val="CC0000"/>
                        </a:solidFill>
                      </a:endParaRPr>
                    </a:p>
                  </a:txBody>
                  <a:tcPr marT="91425" marB="91425" marR="91425" marL="91425" anchor="ctr"/>
                </a:tc>
                <a:tc hMerge="1"/>
                <a:tc>
                  <a:txBody>
                    <a:bodyPr/>
                    <a:lstStyle/>
                    <a:p>
                      <a:pPr indent="0" lvl="0" marL="0" rtl="0" algn="ctr">
                        <a:spcBef>
                          <a:spcPts val="0"/>
                        </a:spcBef>
                        <a:spcAft>
                          <a:spcPts val="0"/>
                        </a:spcAft>
                        <a:buNone/>
                      </a:pPr>
                      <a:r>
                        <a:rPr lang="en" sz="1100">
                          <a:solidFill>
                            <a:srgbClr val="351C75"/>
                          </a:solidFill>
                        </a:rPr>
                        <a:t>2. </a:t>
                      </a:r>
                      <a:endParaRPr sz="800">
                        <a:solidFill>
                          <a:srgbClr val="351C75"/>
                        </a:solidFill>
                      </a:endParaRPr>
                    </a:p>
                  </a:txBody>
                  <a:tcPr marT="91425" marB="91425" marR="91425" marL="91425" anchor="ctr"/>
                </a:tc>
                <a:tc>
                  <a:txBody>
                    <a:bodyPr/>
                    <a:lstStyle/>
                    <a:p>
                      <a:pPr indent="0" lvl="0" marL="0" rtl="0" algn="ctr">
                        <a:spcBef>
                          <a:spcPts val="0"/>
                        </a:spcBef>
                        <a:spcAft>
                          <a:spcPts val="0"/>
                        </a:spcAft>
                        <a:buNone/>
                      </a:pPr>
                      <a:r>
                        <a:rPr lang="en" sz="1100">
                          <a:solidFill>
                            <a:srgbClr val="351C75"/>
                          </a:solidFill>
                        </a:rPr>
                        <a:t>3. </a:t>
                      </a:r>
                      <a:endParaRPr sz="1100">
                        <a:solidFill>
                          <a:srgbClr val="A64D79"/>
                        </a:solidFill>
                      </a:endParaRPr>
                    </a:p>
                  </a:txBody>
                  <a:tcPr marT="91425" marB="91425" marR="91425" marL="91425" anchor="ctr"/>
                </a:tc>
              </a:tr>
            </a:tbl>
          </a:graphicData>
        </a:graphic>
      </p:graphicFrame>
      <p:sp>
        <p:nvSpPr>
          <p:cNvPr id="264" name="Google Shape;264;p35"/>
          <p:cNvSpPr txBox="1"/>
          <p:nvPr/>
        </p:nvSpPr>
        <p:spPr>
          <a:xfrm>
            <a:off x="3602100" y="483025"/>
            <a:ext cx="5541900" cy="11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u="sng"/>
              <a:t>Quick Summary:</a:t>
            </a:r>
            <a:endParaRPr b="1" sz="1200" u="sng"/>
          </a:p>
          <a:p>
            <a:pPr indent="0" lvl="0" marL="0" rtl="0" algn="l">
              <a:spcBef>
                <a:spcPts val="0"/>
              </a:spcBef>
              <a:spcAft>
                <a:spcPts val="0"/>
              </a:spcAft>
              <a:buNone/>
            </a:pPr>
            <a:r>
              <a:rPr lang="en" sz="1200"/>
              <a:t>1.</a:t>
            </a:r>
            <a:endParaRPr sz="1200"/>
          </a:p>
          <a:p>
            <a:pPr indent="0" lvl="0" marL="0" rtl="0" algn="l">
              <a:spcBef>
                <a:spcPts val="0"/>
              </a:spcBef>
              <a:spcAft>
                <a:spcPts val="0"/>
              </a:spcAft>
              <a:buNone/>
            </a:pPr>
            <a:r>
              <a:t/>
            </a:r>
            <a:endParaRPr sz="12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pic>
        <p:nvPicPr>
          <p:cNvPr id="269" name="Google Shape;269;p36"/>
          <p:cNvPicPr preferRelativeResize="0"/>
          <p:nvPr/>
        </p:nvPicPr>
        <p:blipFill>
          <a:blip r:embed="rId3">
            <a:alphaModFix/>
          </a:blip>
          <a:stretch>
            <a:fillRect/>
          </a:stretch>
        </p:blipFill>
        <p:spPr>
          <a:xfrm>
            <a:off x="653800" y="289500"/>
            <a:ext cx="7836401" cy="44079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id="274" name="Google Shape;274;p37"/>
          <p:cNvPicPr preferRelativeResize="0"/>
          <p:nvPr/>
        </p:nvPicPr>
        <p:blipFill>
          <a:blip r:embed="rId3">
            <a:alphaModFix/>
          </a:blip>
          <a:stretch>
            <a:fillRect/>
          </a:stretch>
        </p:blipFill>
        <p:spPr>
          <a:xfrm>
            <a:off x="579950" y="252875"/>
            <a:ext cx="7984102" cy="449104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pic>
        <p:nvPicPr>
          <p:cNvPr id="279" name="Google Shape;279;p38"/>
          <p:cNvPicPr preferRelativeResize="0"/>
          <p:nvPr/>
        </p:nvPicPr>
        <p:blipFill>
          <a:blip r:embed="rId3">
            <a:alphaModFix/>
          </a:blip>
          <a:stretch>
            <a:fillRect/>
          </a:stretch>
        </p:blipFill>
        <p:spPr>
          <a:xfrm>
            <a:off x="261900" y="112526"/>
            <a:ext cx="1354248" cy="1083399"/>
          </a:xfrm>
          <a:prstGeom prst="rect">
            <a:avLst/>
          </a:prstGeom>
          <a:noFill/>
          <a:ln>
            <a:noFill/>
          </a:ln>
        </p:spPr>
      </p:pic>
      <p:pic>
        <p:nvPicPr>
          <p:cNvPr id="280" name="Google Shape;280;p38"/>
          <p:cNvPicPr preferRelativeResize="0"/>
          <p:nvPr/>
        </p:nvPicPr>
        <p:blipFill>
          <a:blip r:embed="rId4">
            <a:alphaModFix/>
          </a:blip>
          <a:stretch>
            <a:fillRect/>
          </a:stretch>
        </p:blipFill>
        <p:spPr>
          <a:xfrm>
            <a:off x="210700" y="1739825"/>
            <a:ext cx="2515795" cy="2688120"/>
          </a:xfrm>
          <a:prstGeom prst="rect">
            <a:avLst/>
          </a:prstGeom>
          <a:noFill/>
          <a:ln>
            <a:noFill/>
          </a:ln>
        </p:spPr>
      </p:pic>
      <p:pic>
        <p:nvPicPr>
          <p:cNvPr id="281" name="Google Shape;281;p38"/>
          <p:cNvPicPr preferRelativeResize="0"/>
          <p:nvPr/>
        </p:nvPicPr>
        <p:blipFill>
          <a:blip r:embed="rId5">
            <a:alphaModFix/>
          </a:blip>
          <a:stretch>
            <a:fillRect/>
          </a:stretch>
        </p:blipFill>
        <p:spPr>
          <a:xfrm>
            <a:off x="2691280" y="1739825"/>
            <a:ext cx="2515795" cy="2688126"/>
          </a:xfrm>
          <a:prstGeom prst="rect">
            <a:avLst/>
          </a:prstGeom>
          <a:noFill/>
          <a:ln>
            <a:noFill/>
          </a:ln>
        </p:spPr>
      </p:pic>
      <p:sp>
        <p:nvSpPr>
          <p:cNvPr id="282" name="Google Shape;282;p38"/>
          <p:cNvSpPr txBox="1"/>
          <p:nvPr/>
        </p:nvSpPr>
        <p:spPr>
          <a:xfrm>
            <a:off x="608350" y="4383775"/>
            <a:ext cx="15726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t>P value = 0.0063</a:t>
            </a:r>
            <a:endParaRPr sz="900"/>
          </a:p>
          <a:p>
            <a:pPr indent="0" lvl="0" marL="0" rtl="0" algn="ctr">
              <a:spcBef>
                <a:spcPts val="0"/>
              </a:spcBef>
              <a:spcAft>
                <a:spcPts val="0"/>
              </a:spcAft>
              <a:buNone/>
            </a:pPr>
            <a:r>
              <a:rPr lang="en" sz="900"/>
              <a:t>SAL &gt;&gt;&gt; NonSAL</a:t>
            </a:r>
            <a:endParaRPr sz="900"/>
          </a:p>
          <a:p>
            <a:pPr indent="0" lvl="0" marL="0" rtl="0" algn="ctr">
              <a:spcBef>
                <a:spcPts val="0"/>
              </a:spcBef>
              <a:spcAft>
                <a:spcPts val="0"/>
              </a:spcAft>
              <a:buNone/>
            </a:pPr>
            <a:r>
              <a:rPr lang="en" sz="900"/>
              <a:t>(paired)</a:t>
            </a:r>
            <a:endParaRPr sz="900"/>
          </a:p>
        </p:txBody>
      </p:sp>
      <p:sp>
        <p:nvSpPr>
          <p:cNvPr id="283" name="Google Shape;283;p38"/>
          <p:cNvSpPr txBox="1"/>
          <p:nvPr/>
        </p:nvSpPr>
        <p:spPr>
          <a:xfrm>
            <a:off x="3092675" y="4383775"/>
            <a:ext cx="15726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t>P value = 0.0340</a:t>
            </a:r>
            <a:endParaRPr sz="900"/>
          </a:p>
          <a:p>
            <a:pPr indent="0" lvl="0" marL="0" rtl="0" algn="ctr">
              <a:spcBef>
                <a:spcPts val="0"/>
              </a:spcBef>
              <a:spcAft>
                <a:spcPts val="0"/>
              </a:spcAft>
              <a:buNone/>
            </a:pPr>
            <a:r>
              <a:rPr lang="en" sz="900"/>
              <a:t>NonSAL &gt; SAL</a:t>
            </a:r>
            <a:endParaRPr sz="900"/>
          </a:p>
          <a:p>
            <a:pPr indent="0" lvl="0" marL="0" rtl="0" algn="ctr">
              <a:spcBef>
                <a:spcPts val="0"/>
              </a:spcBef>
              <a:spcAft>
                <a:spcPts val="0"/>
              </a:spcAft>
              <a:buNone/>
            </a:pPr>
            <a:r>
              <a:rPr lang="en" sz="900"/>
              <a:t>(paired)</a:t>
            </a:r>
            <a:endParaRPr sz="900"/>
          </a:p>
        </p:txBody>
      </p:sp>
      <p:sp>
        <p:nvSpPr>
          <p:cNvPr id="284" name="Google Shape;284;p38"/>
          <p:cNvSpPr txBox="1"/>
          <p:nvPr/>
        </p:nvSpPr>
        <p:spPr>
          <a:xfrm>
            <a:off x="608350" y="1272125"/>
            <a:ext cx="15726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t>Healthy Controls</a:t>
            </a:r>
            <a:endParaRPr b="1" sz="1100">
              <a:solidFill>
                <a:srgbClr val="1155CC"/>
              </a:solidFill>
            </a:endParaRPr>
          </a:p>
        </p:txBody>
      </p:sp>
      <p:sp>
        <p:nvSpPr>
          <p:cNvPr id="285" name="Google Shape;285;p38"/>
          <p:cNvSpPr txBox="1"/>
          <p:nvPr/>
        </p:nvSpPr>
        <p:spPr>
          <a:xfrm>
            <a:off x="3092675" y="1272125"/>
            <a:ext cx="15726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t>MCI</a:t>
            </a:r>
            <a:endParaRPr b="1" sz="1100">
              <a:solidFill>
                <a:srgbClr val="1155CC"/>
              </a:solidFill>
            </a:endParaRPr>
          </a:p>
        </p:txBody>
      </p:sp>
      <p:pic>
        <p:nvPicPr>
          <p:cNvPr id="286" name="Google Shape;286;p38"/>
          <p:cNvPicPr preferRelativeResize="0"/>
          <p:nvPr/>
        </p:nvPicPr>
        <p:blipFill>
          <a:blip r:embed="rId6">
            <a:alphaModFix/>
          </a:blip>
          <a:stretch>
            <a:fillRect/>
          </a:stretch>
        </p:blipFill>
        <p:spPr>
          <a:xfrm>
            <a:off x="5577000" y="1716513"/>
            <a:ext cx="3432474" cy="2734750"/>
          </a:xfrm>
          <a:prstGeom prst="rect">
            <a:avLst/>
          </a:prstGeom>
          <a:noFill/>
          <a:ln>
            <a:noFill/>
          </a:ln>
        </p:spPr>
      </p:pic>
      <p:sp>
        <p:nvSpPr>
          <p:cNvPr id="287" name="Google Shape;287;p38"/>
          <p:cNvSpPr txBox="1"/>
          <p:nvPr/>
        </p:nvSpPr>
        <p:spPr>
          <a:xfrm>
            <a:off x="6506938" y="4383775"/>
            <a:ext cx="15726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t>P value = 0.0007</a:t>
            </a:r>
            <a:endParaRPr sz="900"/>
          </a:p>
          <a:p>
            <a:pPr indent="0" lvl="0" marL="0" rtl="0" algn="ctr">
              <a:spcBef>
                <a:spcPts val="0"/>
              </a:spcBef>
              <a:spcAft>
                <a:spcPts val="0"/>
              </a:spcAft>
              <a:buNone/>
            </a:pPr>
            <a:r>
              <a:rPr lang="en" sz="900"/>
              <a:t>(two-sample)</a:t>
            </a:r>
            <a:endParaRPr sz="900"/>
          </a:p>
        </p:txBody>
      </p:sp>
      <p:sp>
        <p:nvSpPr>
          <p:cNvPr id="288" name="Google Shape;288;p38"/>
          <p:cNvSpPr txBox="1"/>
          <p:nvPr/>
        </p:nvSpPr>
        <p:spPr>
          <a:xfrm rot="-5400000">
            <a:off x="4812213" y="2713850"/>
            <a:ext cx="15726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t>(Change = SAL - NonSAL)</a:t>
            </a:r>
            <a:endParaRPr b="1" sz="900">
              <a:solidFill>
                <a:srgbClr val="1155CC"/>
              </a:solidFill>
            </a:endParaRPr>
          </a:p>
        </p:txBody>
      </p:sp>
      <p:sp>
        <p:nvSpPr>
          <p:cNvPr id="289" name="Google Shape;289;p38"/>
          <p:cNvSpPr txBox="1"/>
          <p:nvPr/>
        </p:nvSpPr>
        <p:spPr>
          <a:xfrm>
            <a:off x="6601275" y="1202425"/>
            <a:ext cx="15726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t>RE Changes Comparison</a:t>
            </a:r>
            <a:endParaRPr b="1" sz="1100">
              <a:solidFill>
                <a:srgbClr val="1155CC"/>
              </a:solidFill>
            </a:endParaRPr>
          </a:p>
        </p:txBody>
      </p:sp>
      <p:pic>
        <p:nvPicPr>
          <p:cNvPr id="290" name="Google Shape;290;p38"/>
          <p:cNvPicPr preferRelativeResize="0"/>
          <p:nvPr/>
        </p:nvPicPr>
        <p:blipFill rotWithShape="1">
          <a:blip r:embed="rId7">
            <a:alphaModFix/>
          </a:blip>
          <a:srcRect b="11913" l="12262" r="7281" t="2872"/>
          <a:stretch/>
        </p:blipFill>
        <p:spPr>
          <a:xfrm>
            <a:off x="1616150" y="59850"/>
            <a:ext cx="1316199" cy="1136074"/>
          </a:xfrm>
          <a:prstGeom prst="rect">
            <a:avLst/>
          </a:prstGeom>
          <a:noFill/>
          <a:ln>
            <a:noFill/>
          </a:ln>
        </p:spPr>
      </p:pic>
      <p:sp>
        <p:nvSpPr>
          <p:cNvPr id="291" name="Google Shape;291;p38"/>
          <p:cNvSpPr/>
          <p:nvPr/>
        </p:nvSpPr>
        <p:spPr>
          <a:xfrm>
            <a:off x="2627125" y="366588"/>
            <a:ext cx="186000" cy="522600"/>
          </a:xfrm>
          <a:prstGeom prst="roundRect">
            <a:avLst>
              <a:gd fmla="val 16667" name="adj"/>
            </a:avLst>
          </a:prstGeom>
          <a:solidFill>
            <a:srgbClr val="9F8AD8">
              <a:alpha val="310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2" name="Google Shape;292;p38"/>
          <p:cNvSpPr txBox="1"/>
          <p:nvPr/>
        </p:nvSpPr>
        <p:spPr>
          <a:xfrm>
            <a:off x="3393175" y="366600"/>
            <a:ext cx="56163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Analysis on </a:t>
            </a:r>
            <a:r>
              <a:rPr b="1" lang="en">
                <a:solidFill>
                  <a:srgbClr val="1C4587"/>
                </a:solidFill>
              </a:rPr>
              <a:t>Right Fronto-Central and Right Centro-Parietal</a:t>
            </a:r>
            <a:endParaRPr b="1">
              <a:solidFill>
                <a:srgbClr val="1C4587"/>
              </a:solidFill>
            </a:endParaRPr>
          </a:p>
        </p:txBody>
      </p:sp>
      <p:cxnSp>
        <p:nvCxnSpPr>
          <p:cNvPr id="293" name="Google Shape;293;p38"/>
          <p:cNvCxnSpPr/>
          <p:nvPr/>
        </p:nvCxnSpPr>
        <p:spPr>
          <a:xfrm flipH="1" rot="10800000">
            <a:off x="2932350" y="569850"/>
            <a:ext cx="546000" cy="116100"/>
          </a:xfrm>
          <a:prstGeom prst="straightConnector1">
            <a:avLst/>
          </a:prstGeom>
          <a:noFill/>
          <a:ln cap="flat" cmpd="sng" w="38100">
            <a:solidFill>
              <a:schemeClr val="dk2"/>
            </a:solidFill>
            <a:prstDash val="solid"/>
            <a:round/>
            <a:headEnd len="med" w="med" type="none"/>
            <a:tailEnd len="med" w="med" type="triangle"/>
          </a:ln>
        </p:spPr>
      </p:cxnSp>
      <p:sp>
        <p:nvSpPr>
          <p:cNvPr id="294" name="Google Shape;294;p38"/>
          <p:cNvSpPr/>
          <p:nvPr/>
        </p:nvSpPr>
        <p:spPr>
          <a:xfrm>
            <a:off x="933225" y="497625"/>
            <a:ext cx="360300" cy="423000"/>
          </a:xfrm>
          <a:prstGeom prst="roundRect">
            <a:avLst>
              <a:gd fmla="val 16667" name="adj"/>
            </a:avLst>
          </a:prstGeom>
          <a:solidFill>
            <a:srgbClr val="9F8AD8">
              <a:alpha val="310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pic>
        <p:nvPicPr>
          <p:cNvPr id="299" name="Google Shape;299;p39"/>
          <p:cNvPicPr preferRelativeResize="0"/>
          <p:nvPr/>
        </p:nvPicPr>
        <p:blipFill>
          <a:blip r:embed="rId3">
            <a:alphaModFix/>
          </a:blip>
          <a:stretch>
            <a:fillRect/>
          </a:stretch>
        </p:blipFill>
        <p:spPr>
          <a:xfrm>
            <a:off x="193237" y="1167125"/>
            <a:ext cx="2514213" cy="2686417"/>
          </a:xfrm>
          <a:prstGeom prst="rect">
            <a:avLst/>
          </a:prstGeom>
          <a:noFill/>
          <a:ln>
            <a:noFill/>
          </a:ln>
        </p:spPr>
      </p:pic>
      <p:pic>
        <p:nvPicPr>
          <p:cNvPr id="300" name="Google Shape;300;p39"/>
          <p:cNvPicPr preferRelativeResize="0"/>
          <p:nvPr/>
        </p:nvPicPr>
        <p:blipFill>
          <a:blip r:embed="rId4">
            <a:alphaModFix/>
          </a:blip>
          <a:stretch>
            <a:fillRect/>
          </a:stretch>
        </p:blipFill>
        <p:spPr>
          <a:xfrm>
            <a:off x="5228275" y="1092525"/>
            <a:ext cx="3693350" cy="2958449"/>
          </a:xfrm>
          <a:prstGeom prst="rect">
            <a:avLst/>
          </a:prstGeom>
          <a:noFill/>
          <a:ln>
            <a:noFill/>
          </a:ln>
        </p:spPr>
      </p:pic>
      <p:sp>
        <p:nvSpPr>
          <p:cNvPr id="301" name="Google Shape;301;p39"/>
          <p:cNvSpPr txBox="1"/>
          <p:nvPr/>
        </p:nvSpPr>
        <p:spPr>
          <a:xfrm>
            <a:off x="865425" y="427225"/>
            <a:ext cx="7931100" cy="60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Interaction of Saliency and Group Effect on </a:t>
            </a:r>
            <a:r>
              <a:rPr b="1" lang="en">
                <a:solidFill>
                  <a:srgbClr val="CC0000"/>
                </a:solidFill>
              </a:rPr>
              <a:t>Global Density</a:t>
            </a:r>
            <a:br>
              <a:rPr b="1" lang="en">
                <a:solidFill>
                  <a:srgbClr val="CC0000"/>
                </a:solidFill>
              </a:rPr>
            </a:br>
            <a:r>
              <a:rPr b="1" lang="en"/>
              <a:t>(Coherence Network, Total Power, Beta Band)</a:t>
            </a:r>
            <a:endParaRPr b="1">
              <a:solidFill>
                <a:srgbClr val="1C4587"/>
              </a:solidFill>
            </a:endParaRPr>
          </a:p>
        </p:txBody>
      </p:sp>
      <p:sp>
        <p:nvSpPr>
          <p:cNvPr id="302" name="Google Shape;302;p39"/>
          <p:cNvSpPr txBox="1"/>
          <p:nvPr/>
        </p:nvSpPr>
        <p:spPr>
          <a:xfrm>
            <a:off x="595050" y="3853550"/>
            <a:ext cx="15726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t>P value = 0.0047</a:t>
            </a:r>
            <a:endParaRPr sz="900"/>
          </a:p>
          <a:p>
            <a:pPr indent="0" lvl="0" marL="0" rtl="0" algn="ctr">
              <a:spcBef>
                <a:spcPts val="0"/>
              </a:spcBef>
              <a:spcAft>
                <a:spcPts val="0"/>
              </a:spcAft>
              <a:buNone/>
            </a:pPr>
            <a:r>
              <a:rPr lang="en" sz="900"/>
              <a:t>SAL &gt;&gt; NonSAL</a:t>
            </a:r>
            <a:endParaRPr sz="900"/>
          </a:p>
          <a:p>
            <a:pPr indent="0" lvl="0" marL="0" rtl="0" algn="ctr">
              <a:spcBef>
                <a:spcPts val="0"/>
              </a:spcBef>
              <a:spcAft>
                <a:spcPts val="0"/>
              </a:spcAft>
              <a:buNone/>
            </a:pPr>
            <a:r>
              <a:rPr lang="en" sz="900"/>
              <a:t>(paired)</a:t>
            </a:r>
            <a:endParaRPr sz="900"/>
          </a:p>
        </p:txBody>
      </p:sp>
      <p:sp>
        <p:nvSpPr>
          <p:cNvPr id="303" name="Google Shape;303;p39"/>
          <p:cNvSpPr txBox="1"/>
          <p:nvPr/>
        </p:nvSpPr>
        <p:spPr>
          <a:xfrm>
            <a:off x="6288650" y="3853550"/>
            <a:ext cx="15726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t>P value = </a:t>
            </a:r>
            <a:r>
              <a:rPr lang="en" sz="900"/>
              <a:t>0.00011</a:t>
            </a:r>
            <a:endParaRPr sz="900"/>
          </a:p>
          <a:p>
            <a:pPr indent="0" lvl="0" marL="0" rtl="0" algn="ctr">
              <a:spcBef>
                <a:spcPts val="0"/>
              </a:spcBef>
              <a:spcAft>
                <a:spcPts val="0"/>
              </a:spcAft>
              <a:buNone/>
            </a:pPr>
            <a:r>
              <a:rPr lang="en" sz="900"/>
              <a:t>(two-sample)</a:t>
            </a:r>
            <a:endParaRPr sz="900"/>
          </a:p>
        </p:txBody>
      </p:sp>
      <p:sp>
        <p:nvSpPr>
          <p:cNvPr id="304" name="Google Shape;304;p39"/>
          <p:cNvSpPr txBox="1"/>
          <p:nvPr/>
        </p:nvSpPr>
        <p:spPr>
          <a:xfrm>
            <a:off x="532150" y="967325"/>
            <a:ext cx="15726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t>Healthy Controls</a:t>
            </a:r>
            <a:endParaRPr b="1" sz="1100">
              <a:solidFill>
                <a:srgbClr val="1155CC"/>
              </a:solidFill>
            </a:endParaRPr>
          </a:p>
        </p:txBody>
      </p:sp>
      <p:sp>
        <p:nvSpPr>
          <p:cNvPr id="305" name="Google Shape;305;p39"/>
          <p:cNvSpPr txBox="1"/>
          <p:nvPr/>
        </p:nvSpPr>
        <p:spPr>
          <a:xfrm>
            <a:off x="3016475" y="967325"/>
            <a:ext cx="15726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t>MCI</a:t>
            </a:r>
            <a:endParaRPr b="1" sz="1100">
              <a:solidFill>
                <a:srgbClr val="1155CC"/>
              </a:solidFill>
            </a:endParaRPr>
          </a:p>
        </p:txBody>
      </p:sp>
      <p:pic>
        <p:nvPicPr>
          <p:cNvPr id="306" name="Google Shape;306;p39"/>
          <p:cNvPicPr preferRelativeResize="0"/>
          <p:nvPr/>
        </p:nvPicPr>
        <p:blipFill>
          <a:blip r:embed="rId5">
            <a:alphaModFix/>
          </a:blip>
          <a:stretch>
            <a:fillRect/>
          </a:stretch>
        </p:blipFill>
        <p:spPr>
          <a:xfrm>
            <a:off x="2708225" y="1167125"/>
            <a:ext cx="2514213" cy="2686425"/>
          </a:xfrm>
          <a:prstGeom prst="rect">
            <a:avLst/>
          </a:prstGeom>
          <a:noFill/>
          <a:ln>
            <a:noFill/>
          </a:ln>
        </p:spPr>
      </p:pic>
      <p:sp>
        <p:nvSpPr>
          <p:cNvPr id="307" name="Google Shape;307;p39"/>
          <p:cNvSpPr txBox="1"/>
          <p:nvPr/>
        </p:nvSpPr>
        <p:spPr>
          <a:xfrm>
            <a:off x="3139925" y="3853550"/>
            <a:ext cx="15726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t>P value = 0.088</a:t>
            </a:r>
            <a:endParaRPr sz="900"/>
          </a:p>
          <a:p>
            <a:pPr indent="0" lvl="0" marL="0" rtl="0" algn="ctr">
              <a:spcBef>
                <a:spcPts val="0"/>
              </a:spcBef>
              <a:spcAft>
                <a:spcPts val="0"/>
              </a:spcAft>
              <a:buNone/>
            </a:pPr>
            <a:r>
              <a:rPr lang="en" sz="900"/>
              <a:t>SAL &lt; NonSAL</a:t>
            </a:r>
            <a:endParaRPr sz="900"/>
          </a:p>
          <a:p>
            <a:pPr indent="0" lvl="0" marL="0" rtl="0" algn="ctr">
              <a:spcBef>
                <a:spcPts val="0"/>
              </a:spcBef>
              <a:spcAft>
                <a:spcPts val="0"/>
              </a:spcAft>
              <a:buNone/>
            </a:pPr>
            <a:r>
              <a:rPr lang="en" sz="900"/>
              <a:t>(paired)</a:t>
            </a:r>
            <a:endParaRPr sz="900"/>
          </a:p>
        </p:txBody>
      </p:sp>
      <p:sp>
        <p:nvSpPr>
          <p:cNvPr id="308" name="Google Shape;308;p39"/>
          <p:cNvSpPr txBox="1"/>
          <p:nvPr/>
        </p:nvSpPr>
        <p:spPr>
          <a:xfrm>
            <a:off x="464650" y="4361275"/>
            <a:ext cx="8679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Several studies indicate that an increase in the task difficulty requires further synchronization of the brain network (Korobeinikova and Karatygin, 2012; Bernarding et al., 2013).</a:t>
            </a:r>
            <a:endParaRPr sz="1200">
              <a:solidFill>
                <a:schemeClr val="dk1"/>
              </a:solidFill>
            </a:endParaRPr>
          </a:p>
          <a:p>
            <a:pPr indent="0" lvl="0" marL="0" rtl="0" algn="l">
              <a:spcBef>
                <a:spcPts val="0"/>
              </a:spcBef>
              <a:spcAft>
                <a:spcPts val="0"/>
              </a:spcAft>
              <a:buNone/>
            </a:pPr>
            <a:r>
              <a:t/>
            </a:r>
            <a:endParaRPr sz="1200">
              <a:solidFill>
                <a:schemeClr val="dk1"/>
              </a:solidFill>
            </a:endParaRPr>
          </a:p>
        </p:txBody>
      </p:sp>
      <p:sp>
        <p:nvSpPr>
          <p:cNvPr id="309" name="Google Shape;309;p39"/>
          <p:cNvSpPr txBox="1"/>
          <p:nvPr/>
        </p:nvSpPr>
        <p:spPr>
          <a:xfrm>
            <a:off x="6094550" y="967325"/>
            <a:ext cx="19608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t>Global Density Change</a:t>
            </a:r>
            <a:endParaRPr b="1" sz="1100"/>
          </a:p>
          <a:p>
            <a:pPr indent="0" lvl="0" marL="0" rtl="0" algn="ctr">
              <a:spcBef>
                <a:spcPts val="0"/>
              </a:spcBef>
              <a:spcAft>
                <a:spcPts val="0"/>
              </a:spcAft>
              <a:buNone/>
            </a:pPr>
            <a:r>
              <a:rPr b="1" lang="en" sz="1100"/>
              <a:t>HC vs MCI</a:t>
            </a:r>
            <a:endParaRPr b="1" sz="11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0"/>
          <p:cNvSpPr txBox="1"/>
          <p:nvPr/>
        </p:nvSpPr>
        <p:spPr>
          <a:xfrm>
            <a:off x="865425" y="427225"/>
            <a:ext cx="7931100" cy="60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Interaction of Saliency and Group Effect on </a:t>
            </a:r>
            <a:r>
              <a:rPr b="1" lang="en">
                <a:solidFill>
                  <a:srgbClr val="CC0000"/>
                </a:solidFill>
              </a:rPr>
              <a:t>Within Density</a:t>
            </a:r>
            <a:br>
              <a:rPr b="1" lang="en">
                <a:solidFill>
                  <a:srgbClr val="CC0000"/>
                </a:solidFill>
              </a:rPr>
            </a:br>
            <a:r>
              <a:rPr b="1" lang="en"/>
              <a:t>(Coherence Network, Total Power, Beta Band)</a:t>
            </a:r>
            <a:endParaRPr b="1">
              <a:solidFill>
                <a:srgbClr val="1C4587"/>
              </a:solidFill>
            </a:endParaRPr>
          </a:p>
        </p:txBody>
      </p:sp>
      <p:pic>
        <p:nvPicPr>
          <p:cNvPr id="315" name="Google Shape;315;p40"/>
          <p:cNvPicPr preferRelativeResize="0"/>
          <p:nvPr/>
        </p:nvPicPr>
        <p:blipFill>
          <a:blip r:embed="rId3">
            <a:alphaModFix/>
          </a:blip>
          <a:stretch>
            <a:fillRect/>
          </a:stretch>
        </p:blipFill>
        <p:spPr>
          <a:xfrm>
            <a:off x="152400" y="1183525"/>
            <a:ext cx="3017725" cy="3224424"/>
          </a:xfrm>
          <a:prstGeom prst="rect">
            <a:avLst/>
          </a:prstGeom>
          <a:noFill/>
          <a:ln>
            <a:noFill/>
          </a:ln>
        </p:spPr>
      </p:pic>
      <p:pic>
        <p:nvPicPr>
          <p:cNvPr id="316" name="Google Shape;316;p40"/>
          <p:cNvPicPr preferRelativeResize="0"/>
          <p:nvPr/>
        </p:nvPicPr>
        <p:blipFill>
          <a:blip r:embed="rId4">
            <a:alphaModFix/>
          </a:blip>
          <a:stretch>
            <a:fillRect/>
          </a:stretch>
        </p:blipFill>
        <p:spPr>
          <a:xfrm>
            <a:off x="3118563" y="1183525"/>
            <a:ext cx="3017725" cy="3224419"/>
          </a:xfrm>
          <a:prstGeom prst="rect">
            <a:avLst/>
          </a:prstGeom>
          <a:noFill/>
          <a:ln>
            <a:noFill/>
          </a:ln>
        </p:spPr>
      </p:pic>
      <p:sp>
        <p:nvSpPr>
          <p:cNvPr id="317" name="Google Shape;317;p40"/>
          <p:cNvSpPr txBox="1"/>
          <p:nvPr/>
        </p:nvSpPr>
        <p:spPr>
          <a:xfrm>
            <a:off x="791825" y="4407950"/>
            <a:ext cx="15726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t>P value = 0.147</a:t>
            </a:r>
            <a:endParaRPr sz="900"/>
          </a:p>
          <a:p>
            <a:pPr indent="0" lvl="0" marL="0" rtl="0" algn="ctr">
              <a:spcBef>
                <a:spcPts val="0"/>
              </a:spcBef>
              <a:spcAft>
                <a:spcPts val="0"/>
              </a:spcAft>
              <a:buNone/>
            </a:pPr>
            <a:r>
              <a:rPr lang="en" sz="900"/>
              <a:t>SAL &gt; NonSAL</a:t>
            </a:r>
            <a:endParaRPr sz="900"/>
          </a:p>
          <a:p>
            <a:pPr indent="0" lvl="0" marL="0" rtl="0" algn="ctr">
              <a:spcBef>
                <a:spcPts val="0"/>
              </a:spcBef>
              <a:spcAft>
                <a:spcPts val="0"/>
              </a:spcAft>
              <a:buNone/>
            </a:pPr>
            <a:r>
              <a:rPr lang="en" sz="900"/>
              <a:t>(paired)</a:t>
            </a:r>
            <a:endParaRPr sz="900"/>
          </a:p>
        </p:txBody>
      </p:sp>
      <p:sp>
        <p:nvSpPr>
          <p:cNvPr id="318" name="Google Shape;318;p40"/>
          <p:cNvSpPr txBox="1"/>
          <p:nvPr/>
        </p:nvSpPr>
        <p:spPr>
          <a:xfrm>
            <a:off x="3582150" y="4407950"/>
            <a:ext cx="15726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t>P value = 0.549</a:t>
            </a:r>
            <a:endParaRPr sz="900"/>
          </a:p>
          <a:p>
            <a:pPr indent="0" lvl="0" marL="0" rtl="0" algn="ctr">
              <a:spcBef>
                <a:spcPts val="0"/>
              </a:spcBef>
              <a:spcAft>
                <a:spcPts val="0"/>
              </a:spcAft>
              <a:buNone/>
            </a:pPr>
            <a:r>
              <a:rPr lang="en" sz="900"/>
              <a:t>SAL == NonSAL</a:t>
            </a:r>
            <a:endParaRPr sz="900"/>
          </a:p>
          <a:p>
            <a:pPr indent="0" lvl="0" marL="0" rtl="0" algn="ctr">
              <a:spcBef>
                <a:spcPts val="0"/>
              </a:spcBef>
              <a:spcAft>
                <a:spcPts val="0"/>
              </a:spcAft>
              <a:buNone/>
            </a:pPr>
            <a:r>
              <a:rPr lang="en" sz="900"/>
              <a:t>(paired)</a:t>
            </a:r>
            <a:endParaRPr sz="900"/>
          </a:p>
        </p:txBody>
      </p:sp>
      <p:pic>
        <p:nvPicPr>
          <p:cNvPr id="319" name="Google Shape;319;p40"/>
          <p:cNvPicPr preferRelativeResize="0"/>
          <p:nvPr/>
        </p:nvPicPr>
        <p:blipFill>
          <a:blip r:embed="rId5">
            <a:alphaModFix/>
          </a:blip>
          <a:stretch>
            <a:fillRect/>
          </a:stretch>
        </p:blipFill>
        <p:spPr>
          <a:xfrm>
            <a:off x="6070500" y="1461750"/>
            <a:ext cx="3073500" cy="2448744"/>
          </a:xfrm>
          <a:prstGeom prst="rect">
            <a:avLst/>
          </a:prstGeom>
          <a:noFill/>
          <a:ln>
            <a:noFill/>
          </a:ln>
        </p:spPr>
      </p:pic>
      <p:sp>
        <p:nvSpPr>
          <p:cNvPr id="320" name="Google Shape;320;p40"/>
          <p:cNvSpPr txBox="1"/>
          <p:nvPr/>
        </p:nvSpPr>
        <p:spPr>
          <a:xfrm>
            <a:off x="6820938" y="4125900"/>
            <a:ext cx="15726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t>P value = 0.153</a:t>
            </a:r>
            <a:endParaRPr b="1" sz="900">
              <a:solidFill>
                <a:srgbClr val="1155CC"/>
              </a:solidFill>
            </a:endParaRPr>
          </a:p>
        </p:txBody>
      </p:sp>
      <p:pic>
        <p:nvPicPr>
          <p:cNvPr id="321" name="Google Shape;321;p40"/>
          <p:cNvPicPr preferRelativeResize="0"/>
          <p:nvPr/>
        </p:nvPicPr>
        <p:blipFill>
          <a:blip r:embed="rId6">
            <a:alphaModFix/>
          </a:blip>
          <a:stretch>
            <a:fillRect/>
          </a:stretch>
        </p:blipFill>
        <p:spPr>
          <a:xfrm>
            <a:off x="540100" y="100126"/>
            <a:ext cx="1354248" cy="1083399"/>
          </a:xfrm>
          <a:prstGeom prst="rect">
            <a:avLst/>
          </a:prstGeom>
          <a:noFill/>
          <a:ln>
            <a:noFill/>
          </a:ln>
        </p:spPr>
      </p:pic>
      <p:sp>
        <p:nvSpPr>
          <p:cNvPr id="322" name="Google Shape;322;p40"/>
          <p:cNvSpPr/>
          <p:nvPr/>
        </p:nvSpPr>
        <p:spPr>
          <a:xfrm>
            <a:off x="1211425" y="485225"/>
            <a:ext cx="360300" cy="423000"/>
          </a:xfrm>
          <a:prstGeom prst="roundRect">
            <a:avLst>
              <a:gd fmla="val 16667" name="adj"/>
            </a:avLst>
          </a:prstGeom>
          <a:solidFill>
            <a:srgbClr val="9F8AD8">
              <a:alpha val="310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1"/>
          <p:cNvSpPr txBox="1"/>
          <p:nvPr/>
        </p:nvSpPr>
        <p:spPr>
          <a:xfrm>
            <a:off x="865425" y="427225"/>
            <a:ext cx="7931100" cy="60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Interaction of Saliency and Group Effect on </a:t>
            </a:r>
            <a:r>
              <a:rPr b="1" lang="en">
                <a:solidFill>
                  <a:srgbClr val="CC0000"/>
                </a:solidFill>
              </a:rPr>
              <a:t>Within Density</a:t>
            </a:r>
            <a:br>
              <a:rPr b="1" lang="en">
                <a:solidFill>
                  <a:srgbClr val="CC0000"/>
                </a:solidFill>
              </a:rPr>
            </a:br>
            <a:r>
              <a:rPr b="1" lang="en"/>
              <a:t>(Coherence Network, Total Power, Beta Band)</a:t>
            </a:r>
            <a:endParaRPr b="1">
              <a:solidFill>
                <a:srgbClr val="1C4587"/>
              </a:solidFill>
            </a:endParaRPr>
          </a:p>
        </p:txBody>
      </p:sp>
      <p:pic>
        <p:nvPicPr>
          <p:cNvPr id="328" name="Google Shape;328;p41"/>
          <p:cNvPicPr preferRelativeResize="0"/>
          <p:nvPr/>
        </p:nvPicPr>
        <p:blipFill>
          <a:blip r:embed="rId3">
            <a:alphaModFix/>
          </a:blip>
          <a:stretch>
            <a:fillRect/>
          </a:stretch>
        </p:blipFill>
        <p:spPr>
          <a:xfrm>
            <a:off x="5978575" y="1258150"/>
            <a:ext cx="3165425" cy="2518756"/>
          </a:xfrm>
          <a:prstGeom prst="rect">
            <a:avLst/>
          </a:prstGeom>
          <a:noFill/>
          <a:ln>
            <a:noFill/>
          </a:ln>
        </p:spPr>
      </p:pic>
      <p:sp>
        <p:nvSpPr>
          <p:cNvPr id="329" name="Google Shape;329;p41"/>
          <p:cNvSpPr txBox="1"/>
          <p:nvPr/>
        </p:nvSpPr>
        <p:spPr>
          <a:xfrm>
            <a:off x="865425" y="3881800"/>
            <a:ext cx="15726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t>P value = 0.052</a:t>
            </a:r>
            <a:endParaRPr sz="900"/>
          </a:p>
          <a:p>
            <a:pPr indent="0" lvl="0" marL="0" rtl="0" algn="ctr">
              <a:spcBef>
                <a:spcPts val="0"/>
              </a:spcBef>
              <a:spcAft>
                <a:spcPts val="0"/>
              </a:spcAft>
              <a:buNone/>
            </a:pPr>
            <a:r>
              <a:rPr lang="en" sz="900"/>
              <a:t>SAL &gt; NonSAL</a:t>
            </a:r>
            <a:endParaRPr sz="900"/>
          </a:p>
          <a:p>
            <a:pPr indent="0" lvl="0" marL="0" rtl="0" algn="ctr">
              <a:spcBef>
                <a:spcPts val="0"/>
              </a:spcBef>
              <a:spcAft>
                <a:spcPts val="0"/>
              </a:spcAft>
              <a:buNone/>
            </a:pPr>
            <a:r>
              <a:rPr lang="en" sz="900"/>
              <a:t>(paired)</a:t>
            </a:r>
            <a:endParaRPr sz="900"/>
          </a:p>
        </p:txBody>
      </p:sp>
      <p:sp>
        <p:nvSpPr>
          <p:cNvPr id="330" name="Google Shape;330;p41"/>
          <p:cNvSpPr txBox="1"/>
          <p:nvPr/>
        </p:nvSpPr>
        <p:spPr>
          <a:xfrm>
            <a:off x="6774988" y="3968950"/>
            <a:ext cx="15726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t>P value = 0.11</a:t>
            </a:r>
            <a:endParaRPr sz="900"/>
          </a:p>
          <a:p>
            <a:pPr indent="0" lvl="0" marL="0" rtl="0" algn="ctr">
              <a:spcBef>
                <a:spcPts val="0"/>
              </a:spcBef>
              <a:spcAft>
                <a:spcPts val="0"/>
              </a:spcAft>
              <a:buNone/>
            </a:pPr>
            <a:r>
              <a:rPr lang="en" sz="900"/>
              <a:t>(two-sample)</a:t>
            </a:r>
            <a:endParaRPr sz="900"/>
          </a:p>
        </p:txBody>
      </p:sp>
      <p:sp>
        <p:nvSpPr>
          <p:cNvPr id="331" name="Google Shape;331;p41"/>
          <p:cNvSpPr txBox="1"/>
          <p:nvPr/>
        </p:nvSpPr>
        <p:spPr>
          <a:xfrm>
            <a:off x="3484925" y="3928250"/>
            <a:ext cx="15726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t>P value = 0.9</a:t>
            </a:r>
            <a:endParaRPr sz="900"/>
          </a:p>
          <a:p>
            <a:pPr indent="0" lvl="0" marL="0" rtl="0" algn="ctr">
              <a:spcBef>
                <a:spcPts val="0"/>
              </a:spcBef>
              <a:spcAft>
                <a:spcPts val="0"/>
              </a:spcAft>
              <a:buNone/>
            </a:pPr>
            <a:r>
              <a:rPr lang="en" sz="900"/>
              <a:t>SAL == NonSAL</a:t>
            </a:r>
            <a:endParaRPr sz="900"/>
          </a:p>
          <a:p>
            <a:pPr indent="0" lvl="0" marL="0" rtl="0" algn="ctr">
              <a:spcBef>
                <a:spcPts val="0"/>
              </a:spcBef>
              <a:spcAft>
                <a:spcPts val="0"/>
              </a:spcAft>
              <a:buNone/>
            </a:pPr>
            <a:r>
              <a:rPr lang="en" sz="900"/>
              <a:t>(paired)</a:t>
            </a:r>
            <a:endParaRPr sz="900"/>
          </a:p>
        </p:txBody>
      </p:sp>
      <p:pic>
        <p:nvPicPr>
          <p:cNvPr id="332" name="Google Shape;332;p41"/>
          <p:cNvPicPr preferRelativeResize="0"/>
          <p:nvPr/>
        </p:nvPicPr>
        <p:blipFill>
          <a:blip r:embed="rId4">
            <a:alphaModFix/>
          </a:blip>
          <a:stretch>
            <a:fillRect/>
          </a:stretch>
        </p:blipFill>
        <p:spPr>
          <a:xfrm>
            <a:off x="540100" y="100126"/>
            <a:ext cx="1354248" cy="1083399"/>
          </a:xfrm>
          <a:prstGeom prst="rect">
            <a:avLst/>
          </a:prstGeom>
          <a:noFill/>
          <a:ln>
            <a:noFill/>
          </a:ln>
        </p:spPr>
      </p:pic>
      <p:sp>
        <p:nvSpPr>
          <p:cNvPr id="333" name="Google Shape;333;p41"/>
          <p:cNvSpPr/>
          <p:nvPr/>
        </p:nvSpPr>
        <p:spPr>
          <a:xfrm>
            <a:off x="1211425" y="682650"/>
            <a:ext cx="360300" cy="225600"/>
          </a:xfrm>
          <a:prstGeom prst="roundRect">
            <a:avLst>
              <a:gd fmla="val 16667" name="adj"/>
            </a:avLst>
          </a:prstGeom>
          <a:solidFill>
            <a:srgbClr val="9F8AD8">
              <a:alpha val="310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34" name="Google Shape;334;p41"/>
          <p:cNvPicPr preferRelativeResize="0"/>
          <p:nvPr/>
        </p:nvPicPr>
        <p:blipFill>
          <a:blip r:embed="rId5">
            <a:alphaModFix/>
          </a:blip>
          <a:stretch>
            <a:fillRect/>
          </a:stretch>
        </p:blipFill>
        <p:spPr>
          <a:xfrm>
            <a:off x="3126575" y="1136025"/>
            <a:ext cx="2651340" cy="2832925"/>
          </a:xfrm>
          <a:prstGeom prst="rect">
            <a:avLst/>
          </a:prstGeom>
          <a:noFill/>
          <a:ln>
            <a:noFill/>
          </a:ln>
        </p:spPr>
      </p:pic>
      <p:pic>
        <p:nvPicPr>
          <p:cNvPr id="335" name="Google Shape;335;p41"/>
          <p:cNvPicPr preferRelativeResize="0"/>
          <p:nvPr/>
        </p:nvPicPr>
        <p:blipFill>
          <a:blip r:embed="rId6">
            <a:alphaModFix/>
          </a:blip>
          <a:stretch>
            <a:fillRect/>
          </a:stretch>
        </p:blipFill>
        <p:spPr>
          <a:xfrm>
            <a:off x="519136" y="1136025"/>
            <a:ext cx="2471588" cy="26408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pic>
        <p:nvPicPr>
          <p:cNvPr id="340" name="Google Shape;340;p42"/>
          <p:cNvPicPr preferRelativeResize="0"/>
          <p:nvPr/>
        </p:nvPicPr>
        <p:blipFill>
          <a:blip r:embed="rId3">
            <a:alphaModFix/>
          </a:blip>
          <a:stretch>
            <a:fillRect/>
          </a:stretch>
        </p:blipFill>
        <p:spPr>
          <a:xfrm>
            <a:off x="3423800" y="1385912"/>
            <a:ext cx="4092051" cy="3260275"/>
          </a:xfrm>
          <a:prstGeom prst="rect">
            <a:avLst/>
          </a:prstGeom>
          <a:noFill/>
          <a:ln>
            <a:noFill/>
          </a:ln>
        </p:spPr>
      </p:pic>
      <p:sp>
        <p:nvSpPr>
          <p:cNvPr id="341" name="Google Shape;341;p42"/>
          <p:cNvSpPr txBox="1"/>
          <p:nvPr/>
        </p:nvSpPr>
        <p:spPr>
          <a:xfrm>
            <a:off x="1504275" y="497313"/>
            <a:ext cx="7931100" cy="60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Group Effect on Global Density</a:t>
            </a:r>
            <a:endParaRPr b="1"/>
          </a:p>
          <a:p>
            <a:pPr indent="0" lvl="0" marL="0" rtl="0" algn="ctr">
              <a:spcBef>
                <a:spcPts val="0"/>
              </a:spcBef>
              <a:spcAft>
                <a:spcPts val="0"/>
              </a:spcAft>
              <a:buClr>
                <a:schemeClr val="dk1"/>
              </a:buClr>
              <a:buSzPts val="1100"/>
              <a:buFont typeface="Arial"/>
              <a:buNone/>
            </a:pPr>
            <a:r>
              <a:rPr b="1" lang="en">
                <a:solidFill>
                  <a:schemeClr val="dk1"/>
                </a:solidFill>
              </a:rPr>
              <a:t>(Coherence Network, Total Power, Beta Band)</a:t>
            </a:r>
            <a:endParaRPr b="1"/>
          </a:p>
        </p:txBody>
      </p:sp>
      <p:pic>
        <p:nvPicPr>
          <p:cNvPr id="342" name="Google Shape;342;p42"/>
          <p:cNvPicPr preferRelativeResize="0"/>
          <p:nvPr/>
        </p:nvPicPr>
        <p:blipFill>
          <a:blip r:embed="rId4">
            <a:alphaModFix/>
          </a:blip>
          <a:stretch>
            <a:fillRect/>
          </a:stretch>
        </p:blipFill>
        <p:spPr>
          <a:xfrm>
            <a:off x="261900" y="112526"/>
            <a:ext cx="1354248" cy="1083399"/>
          </a:xfrm>
          <a:prstGeom prst="rect">
            <a:avLst/>
          </a:prstGeom>
          <a:noFill/>
          <a:ln>
            <a:noFill/>
          </a:ln>
        </p:spPr>
      </p:pic>
      <p:pic>
        <p:nvPicPr>
          <p:cNvPr id="343" name="Google Shape;343;p42"/>
          <p:cNvPicPr preferRelativeResize="0"/>
          <p:nvPr/>
        </p:nvPicPr>
        <p:blipFill rotWithShape="1">
          <a:blip r:embed="rId5">
            <a:alphaModFix/>
          </a:blip>
          <a:srcRect b="11913" l="12262" r="7281" t="2872"/>
          <a:stretch/>
        </p:blipFill>
        <p:spPr>
          <a:xfrm>
            <a:off x="1616150" y="59850"/>
            <a:ext cx="1316199" cy="1136074"/>
          </a:xfrm>
          <a:prstGeom prst="rect">
            <a:avLst/>
          </a:prstGeom>
          <a:noFill/>
          <a:ln>
            <a:noFill/>
          </a:ln>
        </p:spPr>
      </p:pic>
      <p:sp>
        <p:nvSpPr>
          <p:cNvPr id="344" name="Google Shape;344;p42"/>
          <p:cNvSpPr/>
          <p:nvPr/>
        </p:nvSpPr>
        <p:spPr>
          <a:xfrm>
            <a:off x="2627125" y="366588"/>
            <a:ext cx="186000" cy="522600"/>
          </a:xfrm>
          <a:prstGeom prst="roundRect">
            <a:avLst>
              <a:gd fmla="val 16667" name="adj"/>
            </a:avLst>
          </a:prstGeom>
          <a:solidFill>
            <a:srgbClr val="9F8AD8">
              <a:alpha val="310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5" name="Google Shape;345;p42"/>
          <p:cNvSpPr/>
          <p:nvPr/>
        </p:nvSpPr>
        <p:spPr>
          <a:xfrm>
            <a:off x="933225" y="497625"/>
            <a:ext cx="360300" cy="423000"/>
          </a:xfrm>
          <a:prstGeom prst="roundRect">
            <a:avLst>
              <a:gd fmla="val 16667" name="adj"/>
            </a:avLst>
          </a:prstGeom>
          <a:solidFill>
            <a:srgbClr val="9F8AD8">
              <a:alpha val="310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pic>
        <p:nvPicPr>
          <p:cNvPr id="350" name="Google Shape;350;p43"/>
          <p:cNvPicPr preferRelativeResize="0"/>
          <p:nvPr/>
        </p:nvPicPr>
        <p:blipFill rotWithShape="1">
          <a:blip r:embed="rId3">
            <a:alphaModFix/>
          </a:blip>
          <a:srcRect b="9965" l="43640" r="42240" t="15779"/>
          <a:stretch/>
        </p:blipFill>
        <p:spPr>
          <a:xfrm>
            <a:off x="1700475" y="255625"/>
            <a:ext cx="1209425" cy="1149975"/>
          </a:xfrm>
          <a:prstGeom prst="rect">
            <a:avLst/>
          </a:prstGeom>
          <a:noFill/>
          <a:ln>
            <a:noFill/>
          </a:ln>
        </p:spPr>
      </p:pic>
      <p:pic>
        <p:nvPicPr>
          <p:cNvPr id="351" name="Google Shape;351;p43"/>
          <p:cNvPicPr preferRelativeResize="0"/>
          <p:nvPr/>
        </p:nvPicPr>
        <p:blipFill>
          <a:blip r:embed="rId4">
            <a:alphaModFix/>
          </a:blip>
          <a:stretch>
            <a:fillRect/>
          </a:stretch>
        </p:blipFill>
        <p:spPr>
          <a:xfrm>
            <a:off x="246250" y="1605574"/>
            <a:ext cx="2538075" cy="2711900"/>
          </a:xfrm>
          <a:prstGeom prst="rect">
            <a:avLst/>
          </a:prstGeom>
          <a:noFill/>
          <a:ln>
            <a:noFill/>
          </a:ln>
        </p:spPr>
      </p:pic>
      <p:pic>
        <p:nvPicPr>
          <p:cNvPr id="352" name="Google Shape;352;p43"/>
          <p:cNvPicPr preferRelativeResize="0"/>
          <p:nvPr/>
        </p:nvPicPr>
        <p:blipFill>
          <a:blip r:embed="rId5">
            <a:alphaModFix/>
          </a:blip>
          <a:stretch>
            <a:fillRect/>
          </a:stretch>
        </p:blipFill>
        <p:spPr>
          <a:xfrm>
            <a:off x="2784325" y="1605586"/>
            <a:ext cx="2538075" cy="2711883"/>
          </a:xfrm>
          <a:prstGeom prst="rect">
            <a:avLst/>
          </a:prstGeom>
          <a:noFill/>
          <a:ln>
            <a:noFill/>
          </a:ln>
        </p:spPr>
      </p:pic>
      <p:sp>
        <p:nvSpPr>
          <p:cNvPr id="353" name="Google Shape;353;p43"/>
          <p:cNvSpPr txBox="1"/>
          <p:nvPr/>
        </p:nvSpPr>
        <p:spPr>
          <a:xfrm>
            <a:off x="608350" y="1272125"/>
            <a:ext cx="15726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t>Healthy Controls</a:t>
            </a:r>
            <a:endParaRPr b="1" sz="1100">
              <a:solidFill>
                <a:srgbClr val="1155CC"/>
              </a:solidFill>
            </a:endParaRPr>
          </a:p>
        </p:txBody>
      </p:sp>
      <p:sp>
        <p:nvSpPr>
          <p:cNvPr id="354" name="Google Shape;354;p43"/>
          <p:cNvSpPr txBox="1"/>
          <p:nvPr/>
        </p:nvSpPr>
        <p:spPr>
          <a:xfrm>
            <a:off x="3092675" y="1272125"/>
            <a:ext cx="15726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t>MCI</a:t>
            </a:r>
            <a:endParaRPr b="1" sz="1100">
              <a:solidFill>
                <a:srgbClr val="1155CC"/>
              </a:solidFill>
            </a:endParaRPr>
          </a:p>
        </p:txBody>
      </p:sp>
      <p:sp>
        <p:nvSpPr>
          <p:cNvPr id="355" name="Google Shape;355;p43"/>
          <p:cNvSpPr txBox="1"/>
          <p:nvPr/>
        </p:nvSpPr>
        <p:spPr>
          <a:xfrm>
            <a:off x="608350" y="4383775"/>
            <a:ext cx="15726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t>P value = 0.0519</a:t>
            </a:r>
            <a:endParaRPr sz="900"/>
          </a:p>
          <a:p>
            <a:pPr indent="0" lvl="0" marL="0" rtl="0" algn="ctr">
              <a:spcBef>
                <a:spcPts val="0"/>
              </a:spcBef>
              <a:spcAft>
                <a:spcPts val="0"/>
              </a:spcAft>
              <a:buNone/>
            </a:pPr>
            <a:r>
              <a:rPr lang="en" sz="900"/>
              <a:t>SAL &gt; NonSAL</a:t>
            </a:r>
            <a:endParaRPr sz="900"/>
          </a:p>
        </p:txBody>
      </p:sp>
      <p:sp>
        <p:nvSpPr>
          <p:cNvPr id="356" name="Google Shape;356;p43"/>
          <p:cNvSpPr txBox="1"/>
          <p:nvPr/>
        </p:nvSpPr>
        <p:spPr>
          <a:xfrm>
            <a:off x="3092675" y="4383775"/>
            <a:ext cx="15726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t>P value = </a:t>
            </a:r>
            <a:r>
              <a:rPr lang="en" sz="900"/>
              <a:t>0.0012</a:t>
            </a:r>
            <a:endParaRPr sz="900"/>
          </a:p>
          <a:p>
            <a:pPr indent="0" lvl="0" marL="0" rtl="0" algn="ctr">
              <a:spcBef>
                <a:spcPts val="0"/>
              </a:spcBef>
              <a:spcAft>
                <a:spcPts val="0"/>
              </a:spcAft>
              <a:buNone/>
            </a:pPr>
            <a:r>
              <a:rPr lang="en" sz="900"/>
              <a:t>NonSAL &gt; SAL</a:t>
            </a:r>
            <a:endParaRPr sz="900"/>
          </a:p>
        </p:txBody>
      </p:sp>
      <p:pic>
        <p:nvPicPr>
          <p:cNvPr id="357" name="Google Shape;357;p43"/>
          <p:cNvPicPr preferRelativeResize="0"/>
          <p:nvPr/>
        </p:nvPicPr>
        <p:blipFill>
          <a:blip r:embed="rId6">
            <a:alphaModFix/>
          </a:blip>
          <a:stretch>
            <a:fillRect/>
          </a:stretch>
        </p:blipFill>
        <p:spPr>
          <a:xfrm>
            <a:off x="5627200" y="1605575"/>
            <a:ext cx="3516798" cy="2801943"/>
          </a:xfrm>
          <a:prstGeom prst="rect">
            <a:avLst/>
          </a:prstGeom>
          <a:noFill/>
          <a:ln>
            <a:noFill/>
          </a:ln>
        </p:spPr>
      </p:pic>
      <p:sp>
        <p:nvSpPr>
          <p:cNvPr id="358" name="Google Shape;358;p43"/>
          <p:cNvSpPr txBox="1"/>
          <p:nvPr/>
        </p:nvSpPr>
        <p:spPr>
          <a:xfrm>
            <a:off x="6599288" y="4383775"/>
            <a:ext cx="15726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t>P value = </a:t>
            </a:r>
            <a:r>
              <a:rPr lang="en" sz="900"/>
              <a:t>0.00047</a:t>
            </a:r>
            <a:endParaRPr b="1" sz="900">
              <a:solidFill>
                <a:srgbClr val="1155CC"/>
              </a:solidFill>
            </a:endParaRPr>
          </a:p>
        </p:txBody>
      </p:sp>
      <p:sp>
        <p:nvSpPr>
          <p:cNvPr id="359" name="Google Shape;359;p43"/>
          <p:cNvSpPr txBox="1"/>
          <p:nvPr/>
        </p:nvSpPr>
        <p:spPr>
          <a:xfrm>
            <a:off x="6601275" y="1202425"/>
            <a:ext cx="15726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t>RE Changes Comparison</a:t>
            </a:r>
            <a:endParaRPr b="1" sz="1100">
              <a:solidFill>
                <a:srgbClr val="1155CC"/>
              </a:solidFill>
            </a:endParaRPr>
          </a:p>
        </p:txBody>
      </p:sp>
      <p:sp>
        <p:nvSpPr>
          <p:cNvPr id="360" name="Google Shape;360;p43"/>
          <p:cNvSpPr/>
          <p:nvPr/>
        </p:nvSpPr>
        <p:spPr>
          <a:xfrm rot="-3932446">
            <a:off x="2326897" y="-19670"/>
            <a:ext cx="186211" cy="991985"/>
          </a:xfrm>
          <a:prstGeom prst="roundRect">
            <a:avLst>
              <a:gd fmla="val 16667" name="adj"/>
            </a:avLst>
          </a:prstGeom>
          <a:solidFill>
            <a:srgbClr val="9F8AD8">
              <a:alpha val="310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61" name="Google Shape;361;p43"/>
          <p:cNvCxnSpPr/>
          <p:nvPr/>
        </p:nvCxnSpPr>
        <p:spPr>
          <a:xfrm flipH="1" rot="10800000">
            <a:off x="3092675" y="518275"/>
            <a:ext cx="546000" cy="116100"/>
          </a:xfrm>
          <a:prstGeom prst="straightConnector1">
            <a:avLst/>
          </a:prstGeom>
          <a:noFill/>
          <a:ln cap="flat" cmpd="sng" w="38100">
            <a:solidFill>
              <a:schemeClr val="dk2"/>
            </a:solidFill>
            <a:prstDash val="solid"/>
            <a:round/>
            <a:headEnd len="med" w="med" type="none"/>
            <a:tailEnd len="med" w="med" type="triangle"/>
          </a:ln>
        </p:spPr>
      </p:cxnSp>
      <p:sp>
        <p:nvSpPr>
          <p:cNvPr id="362" name="Google Shape;362;p43"/>
          <p:cNvSpPr txBox="1"/>
          <p:nvPr/>
        </p:nvSpPr>
        <p:spPr>
          <a:xfrm>
            <a:off x="2909900" y="380575"/>
            <a:ext cx="5616300" cy="39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Analysis on </a:t>
            </a:r>
            <a:r>
              <a:rPr b="1" lang="en">
                <a:solidFill>
                  <a:srgbClr val="073763"/>
                </a:solidFill>
              </a:rPr>
              <a:t>Left </a:t>
            </a:r>
            <a:r>
              <a:rPr b="1" lang="en">
                <a:solidFill>
                  <a:srgbClr val="073763"/>
                </a:solidFill>
              </a:rPr>
              <a:t>Prefrontal</a:t>
            </a:r>
            <a:r>
              <a:rPr b="1" lang="en">
                <a:solidFill>
                  <a:srgbClr val="1155CC"/>
                </a:solidFill>
              </a:rPr>
              <a:t> </a:t>
            </a:r>
            <a:r>
              <a:rPr b="1" lang="en">
                <a:solidFill>
                  <a:srgbClr val="1C4587"/>
                </a:solidFill>
              </a:rPr>
              <a:t>and </a:t>
            </a:r>
            <a:r>
              <a:rPr b="1" lang="en">
                <a:solidFill>
                  <a:srgbClr val="1C4587"/>
                </a:solidFill>
              </a:rPr>
              <a:t>Right Frontal </a:t>
            </a:r>
            <a:endParaRPr b="1">
              <a:solidFill>
                <a:srgbClr val="1C4587"/>
              </a:solidFill>
            </a:endParaRPr>
          </a:p>
        </p:txBody>
      </p:sp>
      <p:pic>
        <p:nvPicPr>
          <p:cNvPr id="363" name="Google Shape;363;p43"/>
          <p:cNvPicPr preferRelativeResize="0"/>
          <p:nvPr/>
        </p:nvPicPr>
        <p:blipFill rotWithShape="1">
          <a:blip r:embed="rId7">
            <a:alphaModFix/>
          </a:blip>
          <a:srcRect b="7117" l="12206" r="26301" t="21779"/>
          <a:stretch/>
        </p:blipFill>
        <p:spPr>
          <a:xfrm>
            <a:off x="187950" y="144475"/>
            <a:ext cx="1454223" cy="1261125"/>
          </a:xfrm>
          <a:prstGeom prst="rect">
            <a:avLst/>
          </a:prstGeom>
          <a:noFill/>
          <a:ln>
            <a:noFill/>
          </a:ln>
        </p:spPr>
      </p:pic>
      <p:sp>
        <p:nvSpPr>
          <p:cNvPr id="364" name="Google Shape;364;p43"/>
          <p:cNvSpPr/>
          <p:nvPr/>
        </p:nvSpPr>
        <p:spPr>
          <a:xfrm rot="-3932446">
            <a:off x="821956" y="170151"/>
            <a:ext cx="186211" cy="682800"/>
          </a:xfrm>
          <a:prstGeom prst="roundRect">
            <a:avLst>
              <a:gd fmla="val 16667" name="adj"/>
            </a:avLst>
          </a:prstGeom>
          <a:solidFill>
            <a:srgbClr val="9F8AD8">
              <a:alpha val="310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pic>
        <p:nvPicPr>
          <p:cNvPr id="369" name="Google Shape;369;p44"/>
          <p:cNvPicPr preferRelativeResize="0"/>
          <p:nvPr/>
        </p:nvPicPr>
        <p:blipFill rotWithShape="1">
          <a:blip r:embed="rId3">
            <a:alphaModFix/>
          </a:blip>
          <a:srcRect b="0" l="39794" r="40052" t="12816"/>
          <a:stretch/>
        </p:blipFill>
        <p:spPr>
          <a:xfrm>
            <a:off x="1014725" y="927127"/>
            <a:ext cx="3033945" cy="3136844"/>
          </a:xfrm>
          <a:prstGeom prst="rect">
            <a:avLst/>
          </a:prstGeom>
          <a:noFill/>
          <a:ln>
            <a:noFill/>
          </a:ln>
        </p:spPr>
      </p:pic>
      <p:pic>
        <p:nvPicPr>
          <p:cNvPr id="370" name="Google Shape;370;p44"/>
          <p:cNvPicPr preferRelativeResize="0"/>
          <p:nvPr/>
        </p:nvPicPr>
        <p:blipFill>
          <a:blip r:embed="rId4">
            <a:alphaModFix/>
          </a:blip>
          <a:stretch>
            <a:fillRect/>
          </a:stretch>
        </p:blipFill>
        <p:spPr>
          <a:xfrm>
            <a:off x="4942456" y="907212"/>
            <a:ext cx="3033943" cy="3176674"/>
          </a:xfrm>
          <a:prstGeom prst="rect">
            <a:avLst/>
          </a:prstGeom>
          <a:noFill/>
          <a:ln>
            <a:noFill/>
          </a:ln>
        </p:spPr>
      </p:pic>
      <p:sp>
        <p:nvSpPr>
          <p:cNvPr id="371" name="Google Shape;371;p44"/>
          <p:cNvSpPr txBox="1"/>
          <p:nvPr/>
        </p:nvSpPr>
        <p:spPr>
          <a:xfrm>
            <a:off x="1119775" y="4138125"/>
            <a:ext cx="2928900" cy="61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rgbClr val="85200C"/>
                </a:solidFill>
              </a:rPr>
              <a:t>New Result</a:t>
            </a:r>
            <a:endParaRPr b="1" sz="1500">
              <a:solidFill>
                <a:srgbClr val="85200C"/>
              </a:solidFill>
            </a:endParaRPr>
          </a:p>
        </p:txBody>
      </p:sp>
      <p:sp>
        <p:nvSpPr>
          <p:cNvPr id="372" name="Google Shape;372;p44"/>
          <p:cNvSpPr txBox="1"/>
          <p:nvPr/>
        </p:nvSpPr>
        <p:spPr>
          <a:xfrm>
            <a:off x="2183275" y="527000"/>
            <a:ext cx="4962600" cy="61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rgbClr val="85200C"/>
                </a:solidFill>
              </a:rPr>
              <a:t>Both Left and Right, Total Power, Beta Band</a:t>
            </a:r>
            <a:endParaRPr b="1" sz="1500">
              <a:solidFill>
                <a:srgbClr val="85200C"/>
              </a:solidFill>
            </a:endParaRPr>
          </a:p>
        </p:txBody>
      </p:sp>
      <p:sp>
        <p:nvSpPr>
          <p:cNvPr id="373" name="Google Shape;373;p44"/>
          <p:cNvSpPr txBox="1"/>
          <p:nvPr/>
        </p:nvSpPr>
        <p:spPr>
          <a:xfrm>
            <a:off x="5047500" y="4138125"/>
            <a:ext cx="2928900" cy="61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rgbClr val="85200C"/>
                </a:solidFill>
              </a:rPr>
              <a:t>Old Result</a:t>
            </a:r>
            <a:endParaRPr b="1" sz="1500">
              <a:solidFill>
                <a:srgbClr val="85200C"/>
              </a:solidFill>
            </a:endParaRPr>
          </a:p>
        </p:txBody>
      </p:sp>
      <p:pic>
        <p:nvPicPr>
          <p:cNvPr id="374" name="Google Shape;374;p44"/>
          <p:cNvPicPr preferRelativeResize="0"/>
          <p:nvPr/>
        </p:nvPicPr>
        <p:blipFill>
          <a:blip r:embed="rId5">
            <a:alphaModFix/>
          </a:blip>
          <a:stretch>
            <a:fillRect/>
          </a:stretch>
        </p:blipFill>
        <p:spPr>
          <a:xfrm>
            <a:off x="2080575" y="4544850"/>
            <a:ext cx="5065299" cy="445125"/>
          </a:xfrm>
          <a:prstGeom prst="rect">
            <a:avLst/>
          </a:prstGeom>
          <a:noFill/>
          <a:ln>
            <a:noFill/>
          </a:ln>
        </p:spPr>
      </p:pic>
      <p:sp>
        <p:nvSpPr>
          <p:cNvPr id="375" name="Google Shape;375;p44"/>
          <p:cNvSpPr txBox="1"/>
          <p:nvPr/>
        </p:nvSpPr>
        <p:spPr>
          <a:xfrm>
            <a:off x="613000" y="156300"/>
            <a:ext cx="8318700" cy="44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85200C"/>
                </a:solidFill>
              </a:rPr>
              <a:t>Interaction of Group and Saliency Effect on Routing Efficiency</a:t>
            </a:r>
            <a:endParaRPr b="1" sz="1600">
              <a:solidFill>
                <a:srgbClr val="85200C"/>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pic>
        <p:nvPicPr>
          <p:cNvPr id="380" name="Google Shape;380;p45"/>
          <p:cNvPicPr preferRelativeResize="0"/>
          <p:nvPr/>
        </p:nvPicPr>
        <p:blipFill rotWithShape="1">
          <a:blip r:embed="rId3">
            <a:alphaModFix/>
          </a:blip>
          <a:srcRect b="0" l="39541" r="40051" t="7304"/>
          <a:stretch/>
        </p:blipFill>
        <p:spPr>
          <a:xfrm>
            <a:off x="6105063" y="1178825"/>
            <a:ext cx="2425950" cy="2633450"/>
          </a:xfrm>
          <a:prstGeom prst="rect">
            <a:avLst/>
          </a:prstGeom>
          <a:noFill/>
          <a:ln>
            <a:noFill/>
          </a:ln>
        </p:spPr>
      </p:pic>
      <p:pic>
        <p:nvPicPr>
          <p:cNvPr id="381" name="Google Shape;381;p45"/>
          <p:cNvPicPr preferRelativeResize="0"/>
          <p:nvPr/>
        </p:nvPicPr>
        <p:blipFill rotWithShape="1">
          <a:blip r:embed="rId4">
            <a:alphaModFix/>
          </a:blip>
          <a:srcRect b="0" l="39794" r="40052" t="7604"/>
          <a:stretch/>
        </p:blipFill>
        <p:spPr>
          <a:xfrm>
            <a:off x="3324038" y="1166473"/>
            <a:ext cx="2425950" cy="2658164"/>
          </a:xfrm>
          <a:prstGeom prst="rect">
            <a:avLst/>
          </a:prstGeom>
          <a:noFill/>
          <a:ln>
            <a:noFill/>
          </a:ln>
        </p:spPr>
      </p:pic>
      <p:pic>
        <p:nvPicPr>
          <p:cNvPr id="382" name="Google Shape;382;p45"/>
          <p:cNvPicPr preferRelativeResize="0"/>
          <p:nvPr/>
        </p:nvPicPr>
        <p:blipFill rotWithShape="1">
          <a:blip r:embed="rId5">
            <a:alphaModFix/>
          </a:blip>
          <a:srcRect b="0" l="39541" r="40306" t="6235"/>
          <a:stretch/>
        </p:blipFill>
        <p:spPr>
          <a:xfrm>
            <a:off x="612988" y="1146800"/>
            <a:ext cx="2425950" cy="2697500"/>
          </a:xfrm>
          <a:prstGeom prst="rect">
            <a:avLst/>
          </a:prstGeom>
          <a:noFill/>
          <a:ln>
            <a:noFill/>
          </a:ln>
        </p:spPr>
      </p:pic>
      <p:sp>
        <p:nvSpPr>
          <p:cNvPr id="383" name="Google Shape;383;p45"/>
          <p:cNvSpPr txBox="1"/>
          <p:nvPr/>
        </p:nvSpPr>
        <p:spPr>
          <a:xfrm>
            <a:off x="2519250" y="443200"/>
            <a:ext cx="4105500" cy="61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rgbClr val="85200C"/>
                </a:solidFill>
              </a:rPr>
              <a:t>Post_target [0,0.5]</a:t>
            </a:r>
            <a:endParaRPr b="1" sz="1500">
              <a:solidFill>
                <a:srgbClr val="85200C"/>
              </a:solidFill>
            </a:endParaRPr>
          </a:p>
          <a:p>
            <a:pPr indent="0" lvl="0" marL="0" rtl="0" algn="ctr">
              <a:spcBef>
                <a:spcPts val="0"/>
              </a:spcBef>
              <a:spcAft>
                <a:spcPts val="0"/>
              </a:spcAft>
              <a:buNone/>
            </a:pPr>
            <a:r>
              <a:rPr b="1" lang="en" sz="1500">
                <a:solidFill>
                  <a:srgbClr val="85200C"/>
                </a:solidFill>
              </a:rPr>
              <a:t>(New sub-regions)</a:t>
            </a:r>
            <a:endParaRPr b="1" sz="1500">
              <a:solidFill>
                <a:srgbClr val="85200C"/>
              </a:solidFill>
            </a:endParaRPr>
          </a:p>
        </p:txBody>
      </p:sp>
      <p:sp>
        <p:nvSpPr>
          <p:cNvPr id="384" name="Google Shape;384;p45"/>
          <p:cNvSpPr txBox="1"/>
          <p:nvPr/>
        </p:nvSpPr>
        <p:spPr>
          <a:xfrm>
            <a:off x="437725" y="3999725"/>
            <a:ext cx="2928900" cy="61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rgbClr val="85200C"/>
                </a:solidFill>
              </a:rPr>
              <a:t>Left Cue</a:t>
            </a:r>
            <a:endParaRPr b="1" sz="1500">
              <a:solidFill>
                <a:srgbClr val="85200C"/>
              </a:solidFill>
            </a:endParaRPr>
          </a:p>
        </p:txBody>
      </p:sp>
      <p:sp>
        <p:nvSpPr>
          <p:cNvPr id="385" name="Google Shape;385;p45"/>
          <p:cNvSpPr txBox="1"/>
          <p:nvPr/>
        </p:nvSpPr>
        <p:spPr>
          <a:xfrm>
            <a:off x="3148775" y="3999725"/>
            <a:ext cx="2928900" cy="61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rgbClr val="85200C"/>
                </a:solidFill>
              </a:rPr>
              <a:t>Both </a:t>
            </a:r>
            <a:endParaRPr b="1" sz="1500">
              <a:solidFill>
                <a:srgbClr val="85200C"/>
              </a:solidFill>
            </a:endParaRPr>
          </a:p>
          <a:p>
            <a:pPr indent="0" lvl="0" marL="0" rtl="0" algn="ctr">
              <a:spcBef>
                <a:spcPts val="0"/>
              </a:spcBef>
              <a:spcAft>
                <a:spcPts val="0"/>
              </a:spcAft>
              <a:buNone/>
            </a:pPr>
            <a:r>
              <a:rPr b="1" lang="en" sz="1500">
                <a:solidFill>
                  <a:srgbClr val="85200C"/>
                </a:solidFill>
              </a:rPr>
              <a:t>Left and Right</a:t>
            </a:r>
            <a:endParaRPr b="1" sz="1500">
              <a:solidFill>
                <a:srgbClr val="85200C"/>
              </a:solidFill>
            </a:endParaRPr>
          </a:p>
        </p:txBody>
      </p:sp>
      <p:sp>
        <p:nvSpPr>
          <p:cNvPr id="386" name="Google Shape;386;p45"/>
          <p:cNvSpPr txBox="1"/>
          <p:nvPr/>
        </p:nvSpPr>
        <p:spPr>
          <a:xfrm>
            <a:off x="5929800" y="3999725"/>
            <a:ext cx="2928900" cy="61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rgbClr val="85200C"/>
                </a:solidFill>
              </a:rPr>
              <a:t>Right Cue</a:t>
            </a:r>
            <a:endParaRPr b="1" sz="1500">
              <a:solidFill>
                <a:srgbClr val="85200C"/>
              </a:solidFill>
            </a:endParaRPr>
          </a:p>
        </p:txBody>
      </p:sp>
      <p:pic>
        <p:nvPicPr>
          <p:cNvPr id="387" name="Google Shape;387;p45"/>
          <p:cNvPicPr preferRelativeResize="0"/>
          <p:nvPr/>
        </p:nvPicPr>
        <p:blipFill>
          <a:blip r:embed="rId6">
            <a:alphaModFix/>
          </a:blip>
          <a:stretch>
            <a:fillRect/>
          </a:stretch>
        </p:blipFill>
        <p:spPr>
          <a:xfrm>
            <a:off x="2080575" y="4621050"/>
            <a:ext cx="5065299" cy="445125"/>
          </a:xfrm>
          <a:prstGeom prst="rect">
            <a:avLst/>
          </a:prstGeom>
          <a:noFill/>
          <a:ln>
            <a:noFill/>
          </a:ln>
        </p:spPr>
      </p:pic>
      <p:sp>
        <p:nvSpPr>
          <p:cNvPr id="388" name="Google Shape;388;p45"/>
          <p:cNvSpPr txBox="1"/>
          <p:nvPr/>
        </p:nvSpPr>
        <p:spPr>
          <a:xfrm>
            <a:off x="613000" y="156300"/>
            <a:ext cx="8318700" cy="44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85200C"/>
                </a:solidFill>
              </a:rPr>
              <a:t>Interaction of Group and Saliency Effect on Routing Efficiency</a:t>
            </a:r>
            <a:endParaRPr b="1" sz="1600">
              <a:solidFill>
                <a:srgbClr val="85200C"/>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pic>
        <p:nvPicPr>
          <p:cNvPr id="393" name="Google Shape;393;p46"/>
          <p:cNvPicPr preferRelativeResize="0"/>
          <p:nvPr/>
        </p:nvPicPr>
        <p:blipFill>
          <a:blip r:embed="rId3">
            <a:alphaModFix/>
          </a:blip>
          <a:stretch>
            <a:fillRect/>
          </a:stretch>
        </p:blipFill>
        <p:spPr>
          <a:xfrm>
            <a:off x="245700" y="184988"/>
            <a:ext cx="8839204" cy="477351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7" name="Shape 397"/>
        <p:cNvGrpSpPr/>
        <p:nvPr/>
      </p:nvGrpSpPr>
      <p:grpSpPr>
        <a:xfrm>
          <a:off x="0" y="0"/>
          <a:ext cx="0" cy="0"/>
          <a:chOff x="0" y="0"/>
          <a:chExt cx="0" cy="0"/>
        </a:xfrm>
      </p:grpSpPr>
      <p:sp>
        <p:nvSpPr>
          <p:cNvPr id="398" name="Google Shape;398;p47"/>
          <p:cNvSpPr txBox="1"/>
          <p:nvPr>
            <p:ph idx="1" type="body"/>
          </p:nvPr>
        </p:nvSpPr>
        <p:spPr>
          <a:xfrm>
            <a:off x="399300" y="1030725"/>
            <a:ext cx="83454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a:t>Top Down: Pre</a:t>
            </a:r>
            <a:r>
              <a:rPr lang="en"/>
              <a:t>-frontal blah blah</a:t>
            </a:r>
            <a:endParaRPr/>
          </a:p>
          <a:p>
            <a:pPr indent="-317500" lvl="0" marL="457200" rtl="0" algn="l">
              <a:spcBef>
                <a:spcPts val="0"/>
              </a:spcBef>
              <a:spcAft>
                <a:spcPts val="0"/>
              </a:spcAft>
              <a:buSzPts val="1400"/>
              <a:buChar char="●"/>
            </a:pPr>
            <a:r>
              <a:rPr lang="en"/>
              <a:t>Bottom Up: blah blah</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Question: Do Flanker count as a top-down attention while SAL </a:t>
            </a:r>
            <a:r>
              <a:rPr lang="en"/>
              <a:t>occasionally</a:t>
            </a:r>
            <a:r>
              <a:rPr lang="en"/>
              <a:t> activate bottom-up attention mechanism?</a:t>
            </a:r>
            <a:endParaRPr/>
          </a:p>
        </p:txBody>
      </p:sp>
      <p:sp>
        <p:nvSpPr>
          <p:cNvPr id="399" name="Google Shape;399;p47"/>
          <p:cNvSpPr txBox="1"/>
          <p:nvPr>
            <p:ph type="title"/>
          </p:nvPr>
        </p:nvSpPr>
        <p:spPr>
          <a:xfrm>
            <a:off x="455475" y="256688"/>
            <a:ext cx="77304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Attention: </a:t>
            </a:r>
            <a:r>
              <a:rPr lang="en"/>
              <a:t>Top-Down vs Bottom-Up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